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notesMasterIdLst>
    <p:notesMasterId r:id="rId21"/>
  </p:notesMasterIdLst>
  <p:handoutMasterIdLst>
    <p:handoutMasterId r:id="rId22"/>
  </p:handoutMasterIdLst>
  <p:sldIdLst>
    <p:sldId id="328" r:id="rId5"/>
    <p:sldId id="329" r:id="rId6"/>
    <p:sldId id="330" r:id="rId7"/>
    <p:sldId id="331" r:id="rId8"/>
    <p:sldId id="337" r:id="rId9"/>
    <p:sldId id="332" r:id="rId10"/>
    <p:sldId id="340" r:id="rId11"/>
    <p:sldId id="336" r:id="rId12"/>
    <p:sldId id="338" r:id="rId13"/>
    <p:sldId id="344" r:id="rId14"/>
    <p:sldId id="343" r:id="rId15"/>
    <p:sldId id="345" r:id="rId16"/>
    <p:sldId id="346" r:id="rId17"/>
    <p:sldId id="347" r:id="rId18"/>
    <p:sldId id="348" r:id="rId19"/>
    <p:sldId id="341" r:id="rId20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830" autoAdjust="0"/>
    <p:restoredTop sz="94660"/>
  </p:normalViewPr>
  <p:slideViewPr>
    <p:cSldViewPr>
      <p:cViewPr varScale="1">
        <p:scale>
          <a:sx n="104" d="100"/>
          <a:sy n="104" d="100"/>
        </p:scale>
        <p:origin x="-1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B59A4-EFEE-4622-8230-39D4FA334CAD}" type="datetimeFigureOut">
              <a:rPr lang="de-DE" smtClean="0"/>
              <a:pPr/>
              <a:t>28.04.2009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8C644-0EF5-4B84-8643-346F92DE6496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BD139-03D3-41BB-B804-79E4D070A3A8}" type="datetimeFigureOut">
              <a:rPr lang="en-US" smtClean="0"/>
              <a:pPr/>
              <a:t>4/28/2009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0AAE1-F629-42E0-8136-581B10432D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52656-8D79-4A1C-98FA-A52976785D98}" type="slidenum">
              <a:rPr lang="de-AT" smtClean="0"/>
              <a:pPr/>
              <a:t>16</a:t>
            </a:fld>
            <a:endParaRPr lang="de-A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72" y="228600"/>
            <a:ext cx="7000924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 smtClean="0"/>
              <a:t>Agenda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</p:txBody>
      </p:sp>
      <p:pic>
        <p:nvPicPr>
          <p:cNvPr id="2051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  <p:pic>
        <p:nvPicPr>
          <p:cNvPr id="9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  <p:pic>
        <p:nvPicPr>
          <p:cNvPr id="10" name="Picture 3" descr="F:\IconExperience\all\all\128x128\plain\teacher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3357562"/>
            <a:ext cx="7123113" cy="2286016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14422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586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85860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28" y="128586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  <p:pic>
        <p:nvPicPr>
          <p:cNvPr id="10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  <p:pic>
        <p:nvPicPr>
          <p:cNvPr id="11" name="Picture 2" descr="F:\IconExperience\all\all\48x48\plain\book_blue_new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2285992"/>
            <a:ext cx="7123113" cy="3500462"/>
          </a:xfrm>
        </p:spPr>
        <p:txBody>
          <a:bodyPr anchor="t"/>
          <a:lstStyle>
            <a:lvl1pPr marL="0" indent="0">
              <a:buFontTx/>
              <a:buBlip>
                <a:blip r:embed="rId2"/>
              </a:buBlip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92867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00964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000108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2867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08107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9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  <p:pic>
        <p:nvPicPr>
          <p:cNvPr id="11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  <p:pic>
        <p:nvPicPr>
          <p:cNvPr id="15" name="Picture 3" descr="F:\IconExperience\all\all\48x48\plain\step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solidFill>
            <a:srgbClr val="69657E"/>
          </a:solidFill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noFill/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None/>
              <a:defRPr kumimoji="0" lang="de-AT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5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6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rev="1">
        <p:tmplLst>
          <p:tmpl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7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8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6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7" name="Picture 4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5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6" name="Picture 6" descr="F:\IconExperience\all\all\128x128\plain\schoolboy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endParaRPr lang="de-A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AT" dirty="0"/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AT" dirty="0"/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10" r:id="rId17"/>
    <p:sldLayoutId id="2147483711" r:id="rId18"/>
    <p:sldLayoutId id="2147483712" r:id="rId19"/>
    <p:sldLayoutId id="2147483713" r:id="rId20"/>
    <p:sldLayoutId id="2147483686" r:id="rId21"/>
    <p:sldLayoutId id="2147483688" r:id="rId22"/>
    <p:sldLayoutId id="2147483689" r:id="rId23"/>
    <p:sldLayoutId id="2147483690" r:id="rId24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SharePoint 2007</a:t>
            </a:r>
            <a:br>
              <a:rPr lang="en-US" dirty="0" smtClean="0"/>
            </a:br>
            <a:r>
              <a:rPr lang="en-US" dirty="0" smtClean="0"/>
              <a:t>Handling Events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de-AT" dirty="0" smtClean="0"/>
              <a:t>© 2007 Alexander Pajer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AT" dirty="0" smtClean="0"/>
              <a:t>SharePoint Events Overview</a:t>
            </a:r>
          </a:p>
          <a:p>
            <a:r>
              <a:rPr lang="de-AT" dirty="0" smtClean="0"/>
              <a:t>Implementing an Event Handler</a:t>
            </a:r>
          </a:p>
          <a:p>
            <a:r>
              <a:rPr lang="de-AT" dirty="0" smtClean="0"/>
              <a:t>Deploying an Event Handler manually</a:t>
            </a:r>
          </a:p>
          <a:p>
            <a:r>
              <a:rPr lang="de-AT" dirty="0" smtClean="0"/>
              <a:t>Deploying an Event Handler as Feature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 smtClean="0"/>
              <a:t>SharePoint Event Handler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EventReceiver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AT" sz="2400" dirty="0" smtClean="0"/>
              <a:t>SharePoint provides several EventReceiver-Classes which can be used to handle events synchronously (-ing-Evt) or assynchronously (-ed-Evt)</a:t>
            </a:r>
            <a:endParaRPr lang="de-AT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5786" y="3214685"/>
          <a:ext cx="7572428" cy="3096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4786346"/>
              </a:tblGrid>
              <a:tr h="322901">
                <a:tc>
                  <a:txBody>
                    <a:bodyPr/>
                    <a:lstStyle/>
                    <a:p>
                      <a:r>
                        <a:rPr lang="de-AT" dirty="0" smtClean="0"/>
                        <a:t>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ProvidedEvents</a:t>
                      </a:r>
                      <a:endParaRPr lang="de-AT" dirty="0"/>
                    </a:p>
                  </a:txBody>
                  <a:tcPr/>
                </a:tc>
              </a:tr>
              <a:tr h="565077">
                <a:tc>
                  <a:txBody>
                    <a:bodyPr/>
                    <a:lstStyle/>
                    <a:p>
                      <a:r>
                        <a:rPr lang="de-AT" dirty="0" smtClean="0"/>
                        <a:t>SPWebEventReceiver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SiteDeleting,</a:t>
                      </a:r>
                      <a:r>
                        <a:rPr lang="de-AT" baseline="0" dirty="0" smtClean="0"/>
                        <a:t> WebDeleting, WebMoving, FileAdding ...</a:t>
                      </a:r>
                      <a:endParaRPr lang="de-AT" dirty="0"/>
                    </a:p>
                  </a:txBody>
                  <a:tcPr/>
                </a:tc>
              </a:tr>
              <a:tr h="322901">
                <a:tc>
                  <a:txBody>
                    <a:bodyPr/>
                    <a:lstStyle/>
                    <a:p>
                      <a:r>
                        <a:rPr lang="de-AT" dirty="0" smtClean="0"/>
                        <a:t>SPListEventReceiver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FieldAdding,</a:t>
                      </a:r>
                      <a:r>
                        <a:rPr lang="de-AT" baseline="0" dirty="0" smtClean="0"/>
                        <a:t> FieldDeleting, FieldUpdating, ...</a:t>
                      </a:r>
                      <a:endParaRPr lang="de-AT" dirty="0"/>
                    </a:p>
                  </a:txBody>
                  <a:tcPr/>
                </a:tc>
              </a:tr>
              <a:tr h="807253">
                <a:tc>
                  <a:txBody>
                    <a:bodyPr/>
                    <a:lstStyle/>
                    <a:p>
                      <a:r>
                        <a:rPr lang="de-AT" dirty="0" smtClean="0"/>
                        <a:t>SPItemEventReceiver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ContectEvent, ItemAdding, ItemAttachmentAdding,</a:t>
                      </a:r>
                      <a:r>
                        <a:rPr lang="de-AT" baseline="0" dirty="0" smtClean="0"/>
                        <a:t> ItemCheingIn, ItemFileMoving, ...</a:t>
                      </a:r>
                      <a:endParaRPr lang="de-AT" dirty="0"/>
                    </a:p>
                  </a:txBody>
                  <a:tcPr/>
                </a:tc>
              </a:tr>
              <a:tr h="322901">
                <a:tc>
                  <a:txBody>
                    <a:bodyPr/>
                    <a:lstStyle/>
                    <a:p>
                      <a:r>
                        <a:rPr lang="de-AT" dirty="0" smtClean="0"/>
                        <a:t>SPFeatureEventReceiver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FeatureInstalled, FeatureActivated, ...</a:t>
                      </a:r>
                      <a:endParaRPr lang="de-AT" dirty="0"/>
                    </a:p>
                  </a:txBody>
                  <a:tcPr/>
                </a:tc>
              </a:tr>
              <a:tr h="445048">
                <a:tc>
                  <a:txBody>
                    <a:bodyPr/>
                    <a:lstStyle/>
                    <a:p>
                      <a:r>
                        <a:rPr lang="de-AT" dirty="0" smtClean="0"/>
                        <a:t>SPEmailEventReceiver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EMailReceived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Accessing Event Information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e-AT" sz="2800" dirty="0" smtClean="0"/>
              <a:t>Use EventProperties to access Event Information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910" y="2357430"/>
          <a:ext cx="7858180" cy="3498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92"/>
                <a:gridCol w="5429288"/>
              </a:tblGrid>
              <a:tr h="340165">
                <a:tc>
                  <a:txBody>
                    <a:bodyPr/>
                    <a:lstStyle/>
                    <a:p>
                      <a:r>
                        <a:rPr lang="de-AT" dirty="0" smtClean="0"/>
                        <a:t>Property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324412">
                <a:tc>
                  <a:txBody>
                    <a:bodyPr/>
                    <a:lstStyle/>
                    <a:p>
                      <a:r>
                        <a:rPr lang="de-AT" dirty="0" smtClean="0"/>
                        <a:t>EventType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The type of event that was received</a:t>
                      </a:r>
                      <a:endParaRPr lang="de-AT" dirty="0"/>
                    </a:p>
                  </a:txBody>
                  <a:tcPr/>
                </a:tc>
              </a:tr>
              <a:tr h="324412">
                <a:tc>
                  <a:txBody>
                    <a:bodyPr/>
                    <a:lstStyle/>
                    <a:p>
                      <a:r>
                        <a:rPr lang="de-AT" dirty="0" smtClean="0"/>
                        <a:t>ReceiverData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A string containing custom data about the event</a:t>
                      </a:r>
                      <a:endParaRPr lang="de-AT" dirty="0"/>
                    </a:p>
                  </a:txBody>
                  <a:tcPr/>
                </a:tc>
              </a:tr>
              <a:tr h="324412">
                <a:tc>
                  <a:txBody>
                    <a:bodyPr/>
                    <a:lstStyle/>
                    <a:p>
                      <a:r>
                        <a:rPr lang="de-AT" dirty="0" smtClean="0"/>
                        <a:t>Status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A value indicating the status of the event</a:t>
                      </a:r>
                      <a:endParaRPr lang="de-AT" dirty="0"/>
                    </a:p>
                  </a:txBody>
                  <a:tcPr/>
                </a:tc>
              </a:tr>
              <a:tr h="251472">
                <a:tc>
                  <a:txBody>
                    <a:bodyPr/>
                    <a:lstStyle/>
                    <a:p>
                      <a:r>
                        <a:rPr lang="de-AT" dirty="0" smtClean="0"/>
                        <a:t>UserLoginName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The login name of the user that triggered</a:t>
                      </a:r>
                      <a:r>
                        <a:rPr lang="de-AT" baseline="0" dirty="0" smtClean="0"/>
                        <a:t> the event</a:t>
                      </a:r>
                      <a:endParaRPr lang="de-AT" dirty="0"/>
                    </a:p>
                  </a:txBody>
                  <a:tcPr/>
                </a:tc>
              </a:tr>
              <a:tr h="242902">
                <a:tc>
                  <a:txBody>
                    <a:bodyPr/>
                    <a:lstStyle/>
                    <a:p>
                      <a:r>
                        <a:rPr lang="de-AT" dirty="0" smtClean="0"/>
                        <a:t>Cancle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Cancles</a:t>
                      </a:r>
                      <a:r>
                        <a:rPr lang="de-AT" baseline="0" dirty="0" smtClean="0"/>
                        <a:t> the operation that triggered the event</a:t>
                      </a:r>
                      <a:endParaRPr lang="de-AT" dirty="0"/>
                    </a:p>
                  </a:txBody>
                  <a:tcPr/>
                </a:tc>
              </a:tr>
              <a:tr h="651983">
                <a:tc>
                  <a:txBody>
                    <a:bodyPr/>
                    <a:lstStyle/>
                    <a:p>
                      <a:r>
                        <a:rPr lang="de-AT" dirty="0" smtClean="0"/>
                        <a:t>OpenWeb()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Returns a reference to the web</a:t>
                      </a:r>
                      <a:r>
                        <a:rPr lang="de-AT" baseline="0" dirty="0" smtClean="0"/>
                        <a:t> that triggered </a:t>
                      </a:r>
                      <a:r>
                        <a:rPr lang="de-AT" baseline="0" smtClean="0"/>
                        <a:t>the event</a:t>
                      </a:r>
                      <a:endParaRPr lang="de-AT" dirty="0"/>
                    </a:p>
                  </a:txBody>
                  <a:tcPr/>
                </a:tc>
              </a:tr>
              <a:tr h="651983">
                <a:tc>
                  <a:txBody>
                    <a:bodyPr/>
                    <a:lstStyle/>
                    <a:p>
                      <a:r>
                        <a:rPr lang="de-AT" dirty="0" smtClean="0"/>
                        <a:t>BeforeProperties</a:t>
                      </a:r>
                    </a:p>
                    <a:p>
                      <a:r>
                        <a:rPr lang="de-AT" dirty="0" smtClean="0"/>
                        <a:t>After Properties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Give a reference to the values before</a:t>
                      </a:r>
                      <a:r>
                        <a:rPr lang="de-AT" baseline="0" dirty="0" smtClean="0"/>
                        <a:t> and after the event was triggered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Implementing a EventReceiver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857364"/>
            <a:ext cx="8072494" cy="41434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 public class OfferHandler : SPItemEventReceiver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public override void ItemAdded(SPItemEventProperties properties)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SPListItem offer = properties.ListItem;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string cust = offer["Customer"].ToString();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string ID = cust.Substring(0, 3) + Convert.ToDateTime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(offer["Offer Date"]).ToShortDateString();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offer["Offer ID"] = ID;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offer.Update();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}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Synchronous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de-AT" dirty="0" smtClean="0"/>
              <a:t>SharePoint 2007 supports synchronous events that allow canceling of the user interaction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643182"/>
            <a:ext cx="8072494" cy="33575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 public override void </a:t>
            </a:r>
            <a:r>
              <a:rPr lang="en-US" dirty="0" err="1" smtClean="0">
                <a:solidFill>
                  <a:schemeClr val="tx1"/>
                </a:solidFill>
              </a:rPr>
              <a:t>ItemUpdating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SPItemEventProperties</a:t>
            </a:r>
            <a:r>
              <a:rPr lang="en-US" dirty="0" smtClean="0">
                <a:solidFill>
                  <a:schemeClr val="tx1"/>
                </a:solidFill>
              </a:rPr>
              <a:t> properties)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{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string </a:t>
            </a:r>
            <a:r>
              <a:rPr lang="en-US" dirty="0" err="1" smtClean="0">
                <a:solidFill>
                  <a:schemeClr val="tx1"/>
                </a:solidFill>
              </a:rPr>
              <a:t>bTitle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properties.BeforeProperties</a:t>
            </a:r>
            <a:r>
              <a:rPr lang="en-US" dirty="0" smtClean="0">
                <a:solidFill>
                  <a:schemeClr val="tx1"/>
                </a:solidFill>
              </a:rPr>
              <a:t>["Title"].</a:t>
            </a:r>
            <a:r>
              <a:rPr lang="en-US" dirty="0" err="1" smtClean="0">
                <a:solidFill>
                  <a:schemeClr val="tx1"/>
                </a:solidFill>
              </a:rPr>
              <a:t>ToString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string </a:t>
            </a:r>
            <a:r>
              <a:rPr lang="en-US" dirty="0" err="1" smtClean="0">
                <a:solidFill>
                  <a:schemeClr val="tx1"/>
                </a:solidFill>
              </a:rPr>
              <a:t>aTitle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properties.AfterProperties</a:t>
            </a:r>
            <a:r>
              <a:rPr lang="en-US" dirty="0" smtClean="0">
                <a:solidFill>
                  <a:schemeClr val="tx1"/>
                </a:solidFill>
              </a:rPr>
              <a:t>["Title"].</a:t>
            </a:r>
            <a:r>
              <a:rPr lang="en-US" dirty="0" err="1" smtClean="0">
                <a:solidFill>
                  <a:schemeClr val="tx1"/>
                </a:solidFill>
              </a:rPr>
              <a:t>ToString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     if (</a:t>
            </a:r>
            <a:r>
              <a:rPr lang="en-US" dirty="0" err="1" smtClean="0">
                <a:solidFill>
                  <a:schemeClr val="tx1"/>
                </a:solidFill>
              </a:rPr>
              <a:t>bTitle</a:t>
            </a:r>
            <a:r>
              <a:rPr lang="en-US" dirty="0" smtClean="0">
                <a:solidFill>
                  <a:schemeClr val="tx1"/>
                </a:solidFill>
              </a:rPr>
              <a:t> != </a:t>
            </a:r>
            <a:r>
              <a:rPr lang="en-US" dirty="0" err="1" smtClean="0">
                <a:solidFill>
                  <a:schemeClr val="tx1"/>
                </a:solidFill>
              </a:rPr>
              <a:t>aTitle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{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    </a:t>
            </a:r>
            <a:r>
              <a:rPr lang="en-US" dirty="0" err="1" smtClean="0">
                <a:solidFill>
                  <a:schemeClr val="tx1"/>
                </a:solidFill>
              </a:rPr>
              <a:t>properties.ErrorMessage</a:t>
            </a:r>
            <a:r>
              <a:rPr lang="en-US" dirty="0" smtClean="0">
                <a:solidFill>
                  <a:schemeClr val="tx1"/>
                </a:solidFill>
              </a:rPr>
              <a:t> = "Title change is not allowed";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    </a:t>
            </a:r>
            <a:r>
              <a:rPr lang="en-US" dirty="0" err="1" smtClean="0">
                <a:solidFill>
                  <a:schemeClr val="tx1"/>
                </a:solidFill>
              </a:rPr>
              <a:t>properties.Cancel</a:t>
            </a:r>
            <a:r>
              <a:rPr lang="en-US" dirty="0" smtClean="0">
                <a:solidFill>
                  <a:schemeClr val="tx1"/>
                </a:solidFill>
              </a:rPr>
              <a:t> = true;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   }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sz="3600" dirty="0" smtClean="0"/>
              <a:t>Binding Event Handler Programmatically</a:t>
            </a:r>
            <a:endParaRPr lang="de-AT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642910" y="1714488"/>
            <a:ext cx="8072494" cy="42148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SPList list = site.Lists["Offers"];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string assName = "OfferHandler, Version=1.0.0.0, Culture=neutral, PublicKeyToken=403ea38f39d72889";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string className = "Integrations.OfferHandler";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list.EventReceivers.Add(SPEventReceiverType.ItemAdded, assName, 	className);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foreach (SPEventReceiverDefinition receiver in list.EventReceivers)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Console.WriteLine("Receiver: {0} Type: {1}", receiver.Class, 		receiver.Type);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AT" sz="3200" dirty="0" smtClean="0"/>
              <a:t>Binding Events using SharePoint Inspector</a:t>
            </a:r>
            <a:endParaRPr lang="de-AT" sz="3200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2918046" y="2305243"/>
            <a:ext cx="3542857" cy="3085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AT" sz="3200" dirty="0" smtClean="0"/>
              <a:t>Deploying an Event Handler as Feature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42910" y="1714488"/>
            <a:ext cx="8001056" cy="4286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&lt;?xml version="1.0" encoding="utf-8"?&gt;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&lt;Feature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Id="2A675BA2-3835-4d4e-962B-E19B25CD6E24"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Title="Mail Notification"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Description="An Event Handler that notifies Groups based on the settings of the hidden Notify-List"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Version="1.0.0.0"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Scope="Web"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Hidden="false"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 err="1" smtClean="0">
                <a:solidFill>
                  <a:schemeClr val="tx1"/>
                </a:solidFill>
              </a:rPr>
              <a:t>ImageUrl</a:t>
            </a:r>
            <a:r>
              <a:rPr lang="en-US" dirty="0" smtClean="0">
                <a:solidFill>
                  <a:schemeClr val="tx1"/>
                </a:solidFill>
              </a:rPr>
              <a:t>="</a:t>
            </a:r>
            <a:r>
              <a:rPr lang="en-US" dirty="0" err="1" smtClean="0">
                <a:solidFill>
                  <a:schemeClr val="tx1"/>
                </a:solidFill>
              </a:rPr>
              <a:t>MailNotification</a:t>
            </a:r>
            <a:r>
              <a:rPr lang="en-US" dirty="0" smtClean="0">
                <a:solidFill>
                  <a:schemeClr val="tx1"/>
                </a:solidFill>
              </a:rPr>
              <a:t>\components.png"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&lt;</a:t>
            </a:r>
            <a:r>
              <a:rPr lang="en-US" dirty="0" err="1" smtClean="0">
                <a:solidFill>
                  <a:schemeClr val="tx1"/>
                </a:solidFill>
              </a:rPr>
              <a:t>ElementManifests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&lt;</a:t>
            </a:r>
            <a:r>
              <a:rPr lang="en-US" dirty="0" err="1" smtClean="0">
                <a:solidFill>
                  <a:schemeClr val="tx1"/>
                </a:solidFill>
              </a:rPr>
              <a:t>ElementManifest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Location="elements.xml" /&gt;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&lt;/</a:t>
            </a:r>
            <a:r>
              <a:rPr lang="en-US" dirty="0" err="1" smtClean="0">
                <a:solidFill>
                  <a:schemeClr val="tx1"/>
                </a:solidFill>
              </a:rPr>
              <a:t>ElementManifests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&lt;/Feature&gt;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Elements.xml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14348" y="1785926"/>
            <a:ext cx="8001056" cy="4286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&lt;?xml version="1.0" encoding="utf-8"?&gt;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&lt;Elements </a:t>
            </a:r>
            <a:r>
              <a:rPr lang="en-US" dirty="0" err="1" smtClean="0">
                <a:solidFill>
                  <a:schemeClr val="tx1"/>
                </a:solidFill>
              </a:rPr>
              <a:t>xmlns</a:t>
            </a:r>
            <a:r>
              <a:rPr lang="en-US" dirty="0" smtClean="0">
                <a:solidFill>
                  <a:schemeClr val="tx1"/>
                </a:solidFill>
              </a:rPr>
              <a:t>="http://schemas.microsoft.com/sharepoint/"&gt;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&lt;Receivers </a:t>
            </a:r>
            <a:r>
              <a:rPr lang="en-US" dirty="0" err="1" smtClean="0">
                <a:solidFill>
                  <a:schemeClr val="tx1"/>
                </a:solidFill>
              </a:rPr>
              <a:t>ListTemplateId</a:t>
            </a:r>
            <a:r>
              <a:rPr lang="en-US" dirty="0" smtClean="0">
                <a:solidFill>
                  <a:schemeClr val="tx1"/>
                </a:solidFill>
              </a:rPr>
              <a:t>="101"&gt;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&lt;Receiver&gt;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	&lt;Name&gt;Mail Notify&lt;/Name&gt;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	&lt;Type&gt;</a:t>
            </a:r>
            <a:r>
              <a:rPr lang="en-US" dirty="0" err="1" smtClean="0">
                <a:solidFill>
                  <a:schemeClr val="tx1"/>
                </a:solidFill>
              </a:rPr>
              <a:t>ItemAdded</a:t>
            </a:r>
            <a:r>
              <a:rPr lang="en-US" dirty="0" smtClean="0">
                <a:solidFill>
                  <a:schemeClr val="tx1"/>
                </a:solidFill>
              </a:rPr>
              <a:t>&lt;/Type&gt;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	&lt;</a:t>
            </a:r>
            <a:r>
              <a:rPr lang="en-US" dirty="0" err="1" smtClean="0">
                <a:solidFill>
                  <a:schemeClr val="tx1"/>
                </a:solidFill>
              </a:rPr>
              <a:t>SequenceNumber</a:t>
            </a:r>
            <a:r>
              <a:rPr lang="en-US" dirty="0" smtClean="0">
                <a:solidFill>
                  <a:schemeClr val="tx1"/>
                </a:solidFill>
              </a:rPr>
              <a:t>&gt;1000&lt;/</a:t>
            </a:r>
            <a:r>
              <a:rPr lang="en-US" dirty="0" err="1" smtClean="0">
                <a:solidFill>
                  <a:schemeClr val="tx1"/>
                </a:solidFill>
              </a:rPr>
              <a:t>SequenceNumber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	&lt;Assembly&gt;</a:t>
            </a:r>
            <a:r>
              <a:rPr lang="en-US" dirty="0" err="1" smtClean="0">
                <a:solidFill>
                  <a:schemeClr val="tx1"/>
                </a:solidFill>
              </a:rPr>
              <a:t>MailNotification</a:t>
            </a:r>
            <a:r>
              <a:rPr lang="en-US" dirty="0" smtClean="0">
                <a:solidFill>
                  <a:schemeClr val="tx1"/>
                </a:solidFill>
              </a:rPr>
              <a:t>, Version=1.0.0.0, Culture=neutral, </a:t>
            </a:r>
            <a:r>
              <a:rPr lang="en-US" dirty="0" err="1" smtClean="0">
                <a:solidFill>
                  <a:schemeClr val="tx1"/>
                </a:solidFill>
              </a:rPr>
              <a:t>PublicKeyToken</a:t>
            </a:r>
            <a:r>
              <a:rPr lang="en-US" dirty="0" smtClean="0">
                <a:solidFill>
                  <a:schemeClr val="tx1"/>
                </a:solidFill>
              </a:rPr>
              <a:t>=089c6f0ded1f8cd2&lt;/Assembly&gt;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	&lt;Class&gt;</a:t>
            </a:r>
            <a:r>
              <a:rPr lang="en-US" dirty="0" err="1" smtClean="0">
                <a:solidFill>
                  <a:schemeClr val="tx1"/>
                </a:solidFill>
              </a:rPr>
              <a:t>Integrations.ChangeReceiver</a:t>
            </a:r>
            <a:r>
              <a:rPr lang="en-US" dirty="0" smtClean="0">
                <a:solidFill>
                  <a:schemeClr val="tx1"/>
                </a:solidFill>
              </a:rPr>
              <a:t>&lt;/Class&gt;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	&lt;/Receiver&gt;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&lt;/Receivers&gt;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&lt;/Elements&gt;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Package DDF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714488"/>
            <a:ext cx="8072494" cy="43577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.OPTION EXPLICIT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CabinetNameTemplate</a:t>
            </a:r>
            <a:r>
              <a:rPr lang="en-US" sz="1600" dirty="0" smtClean="0">
                <a:solidFill>
                  <a:schemeClr val="tx1"/>
                </a:solidFill>
              </a:rPr>
              <a:t>=MailNotification.wsp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DiskDirectoryTemplate</a:t>
            </a:r>
            <a:r>
              <a:rPr lang="en-US" sz="1600" dirty="0" smtClean="0">
                <a:solidFill>
                  <a:schemeClr val="tx1"/>
                </a:solidFill>
              </a:rPr>
              <a:t>=CDROM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CompressionType</a:t>
            </a:r>
            <a:r>
              <a:rPr lang="en-US" sz="1600" dirty="0" smtClean="0">
                <a:solidFill>
                  <a:schemeClr val="tx1"/>
                </a:solidFill>
              </a:rPr>
              <a:t>=MSZIP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UniqueFiles</a:t>
            </a:r>
            <a:r>
              <a:rPr lang="en-US" sz="1600" dirty="0" smtClean="0">
                <a:solidFill>
                  <a:schemeClr val="tx1"/>
                </a:solidFill>
              </a:rPr>
              <a:t>=off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Cabinet=on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DiskDirectory1=</a:t>
            </a:r>
            <a:r>
              <a:rPr lang="en-US" sz="1600" dirty="0" err="1" smtClean="0">
                <a:solidFill>
                  <a:schemeClr val="tx1"/>
                </a:solidFill>
              </a:rPr>
              <a:t>DeploymentFiles</a:t>
            </a:r>
            <a:endParaRPr lang="en-US" sz="1600" dirty="0" smtClean="0">
              <a:solidFill>
                <a:schemeClr val="tx1"/>
              </a:solidFill>
            </a:endParaRP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err="1" smtClean="0">
                <a:solidFill>
                  <a:schemeClr val="tx1"/>
                </a:solidFill>
              </a:rPr>
              <a:t>DeploymentFiles</a:t>
            </a:r>
            <a:r>
              <a:rPr lang="en-US" sz="1600" dirty="0" smtClean="0">
                <a:solidFill>
                  <a:schemeClr val="tx1"/>
                </a:solidFill>
              </a:rPr>
              <a:t>\manifest.xml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bin/debug/MailNotification.dll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DestinationDir</a:t>
            </a:r>
            <a:r>
              <a:rPr lang="en-US" sz="1600" dirty="0" smtClean="0">
                <a:solidFill>
                  <a:schemeClr val="tx1"/>
                </a:solidFill>
              </a:rPr>
              <a:t>=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err="1" smtClean="0">
                <a:solidFill>
                  <a:schemeClr val="tx1"/>
                </a:solidFill>
              </a:rPr>
              <a:t>RootFiles</a:t>
            </a:r>
            <a:r>
              <a:rPr lang="en-US" sz="1600" dirty="0" smtClean="0">
                <a:solidFill>
                  <a:schemeClr val="tx1"/>
                </a:solidFill>
              </a:rPr>
              <a:t>\TEMPLATE\FEATURES\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600" dirty="0" smtClean="0">
                <a:solidFill>
                  <a:schemeClr val="tx1"/>
                </a:solidFill>
              </a:rPr>
              <a:t>\elements.xml</a:t>
            </a:r>
          </a:p>
          <a:p>
            <a:r>
              <a:rPr lang="en-US" sz="1600" dirty="0" err="1" smtClean="0">
                <a:solidFill>
                  <a:schemeClr val="tx1"/>
                </a:solidFill>
              </a:rPr>
              <a:t>RootFiles</a:t>
            </a:r>
            <a:r>
              <a:rPr lang="en-US" sz="1600" dirty="0" smtClean="0">
                <a:solidFill>
                  <a:schemeClr val="tx1"/>
                </a:solidFill>
              </a:rPr>
              <a:t>\TEMPLATE\FEATURES\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600" dirty="0" smtClean="0">
                <a:solidFill>
                  <a:schemeClr val="tx1"/>
                </a:solidFill>
              </a:rPr>
              <a:t>\feature.xml</a:t>
            </a: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.Set </a:t>
            </a:r>
            <a:r>
              <a:rPr lang="en-US" sz="1600" dirty="0" err="1" smtClean="0">
                <a:solidFill>
                  <a:schemeClr val="tx1"/>
                </a:solidFill>
              </a:rPr>
              <a:t>DestinationDir</a:t>
            </a:r>
            <a:r>
              <a:rPr lang="en-US" sz="1600" dirty="0" smtClean="0">
                <a:solidFill>
                  <a:schemeClr val="tx1"/>
                </a:solidFill>
              </a:rPr>
              <a:t>=IMAGES\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err="1" smtClean="0">
                <a:solidFill>
                  <a:schemeClr val="tx1"/>
                </a:solidFill>
              </a:rPr>
              <a:t>RootFiles</a:t>
            </a:r>
            <a:r>
              <a:rPr lang="en-US" sz="1600" dirty="0" smtClean="0">
                <a:solidFill>
                  <a:schemeClr val="tx1"/>
                </a:solidFill>
              </a:rPr>
              <a:t>\TEMPLATE\IMAGES\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600" dirty="0" smtClean="0">
                <a:solidFill>
                  <a:schemeClr val="tx1"/>
                </a:solidFill>
              </a:rPr>
              <a:t>\components.png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14348" y="1643050"/>
            <a:ext cx="8001056" cy="4429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&lt;?xml version="1.0" encoding="utf-8"?&gt;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&lt;Solution </a:t>
            </a:r>
            <a:r>
              <a:rPr lang="en-US" sz="1600" dirty="0" err="1" smtClean="0">
                <a:solidFill>
                  <a:schemeClr val="tx1"/>
                </a:solidFill>
              </a:rPr>
              <a:t>SolutionId</a:t>
            </a:r>
            <a:r>
              <a:rPr lang="en-US" sz="1600" dirty="0" smtClean="0">
                <a:solidFill>
                  <a:schemeClr val="tx1"/>
                </a:solidFill>
              </a:rPr>
              <a:t>="4E632645-2F2C-4f3e-9BEE-2CE9B6D842D1" </a:t>
            </a:r>
            <a:r>
              <a:rPr lang="en-US" sz="1600" dirty="0" err="1" smtClean="0">
                <a:solidFill>
                  <a:schemeClr val="tx1"/>
                </a:solidFill>
              </a:rPr>
              <a:t>ResetWebServer</a:t>
            </a:r>
            <a:r>
              <a:rPr lang="en-US" sz="1600" dirty="0" smtClean="0">
                <a:solidFill>
                  <a:schemeClr val="tx1"/>
                </a:solidFill>
              </a:rPr>
              <a:t>="True" </a:t>
            </a:r>
            <a:r>
              <a:rPr lang="en-US" sz="1600" dirty="0" err="1" smtClean="0">
                <a:solidFill>
                  <a:schemeClr val="tx1"/>
                </a:solidFill>
              </a:rPr>
              <a:t>xmlns</a:t>
            </a:r>
            <a:r>
              <a:rPr lang="en-US" sz="1600" dirty="0" smtClean="0">
                <a:solidFill>
                  <a:schemeClr val="tx1"/>
                </a:solidFill>
              </a:rPr>
              <a:t>="http://schemas.microsoft.com/sharepoint/"&gt;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&lt;!--Feature Manifest files--&gt;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</a:t>
            </a:r>
            <a:r>
              <a:rPr lang="en-US" sz="1600" dirty="0" err="1" smtClean="0">
                <a:solidFill>
                  <a:schemeClr val="tx1"/>
                </a:solidFill>
              </a:rPr>
              <a:t>FeatureManifests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&lt;</a:t>
            </a:r>
            <a:r>
              <a:rPr lang="en-US" sz="1600" dirty="0" err="1" smtClean="0">
                <a:solidFill>
                  <a:schemeClr val="tx1"/>
                </a:solidFill>
              </a:rPr>
              <a:t>FeatureManifest</a:t>
            </a:r>
            <a:r>
              <a:rPr lang="en-US" sz="1600" dirty="0" smtClean="0">
                <a:solidFill>
                  <a:schemeClr val="tx1"/>
                </a:solidFill>
              </a:rPr>
              <a:t> Location="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600" dirty="0" smtClean="0">
                <a:solidFill>
                  <a:schemeClr val="tx1"/>
                </a:solidFill>
              </a:rPr>
              <a:t>\feature.xml" /&gt;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</a:t>
            </a:r>
            <a:r>
              <a:rPr lang="en-US" sz="1600" dirty="0" err="1" smtClean="0">
                <a:solidFill>
                  <a:schemeClr val="tx1"/>
                </a:solidFill>
              </a:rPr>
              <a:t>FeatureManifests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&lt;!--TEMPLATE files--&gt;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</a:t>
            </a:r>
            <a:r>
              <a:rPr lang="en-US" sz="1600" dirty="0" err="1" smtClean="0">
                <a:solidFill>
                  <a:schemeClr val="tx1"/>
                </a:solidFill>
              </a:rPr>
              <a:t>TemplateFiles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&lt;</a:t>
            </a:r>
            <a:r>
              <a:rPr lang="en-US" sz="1600" dirty="0" err="1" smtClean="0">
                <a:solidFill>
                  <a:schemeClr val="tx1"/>
                </a:solidFill>
              </a:rPr>
              <a:t>TemplateFile</a:t>
            </a:r>
            <a:r>
              <a:rPr lang="en-US" sz="1600" dirty="0" smtClean="0">
                <a:solidFill>
                  <a:schemeClr val="tx1"/>
                </a:solidFill>
              </a:rPr>
              <a:t> Location="IMAGES\</a:t>
            </a:r>
            <a:r>
              <a:rPr lang="en-US" sz="16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600" dirty="0" smtClean="0">
                <a:solidFill>
                  <a:schemeClr val="tx1"/>
                </a:solidFill>
              </a:rPr>
              <a:t>\components.png" /&gt;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</a:t>
            </a:r>
            <a:r>
              <a:rPr lang="en-US" sz="1600" dirty="0" err="1" smtClean="0">
                <a:solidFill>
                  <a:schemeClr val="tx1"/>
                </a:solidFill>
              </a:rPr>
              <a:t>TemplateFiles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&lt;!--Assembly files--&gt;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&lt;Assemblies&gt;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&lt;Assembly Location="MailNotification.dll" </a:t>
            </a:r>
            <a:r>
              <a:rPr lang="en-US" sz="1600" dirty="0" err="1" smtClean="0">
                <a:solidFill>
                  <a:schemeClr val="tx1"/>
                </a:solidFill>
              </a:rPr>
              <a:t>DeploymentTarget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GlobalAssemblyCache</a:t>
            </a:r>
            <a:r>
              <a:rPr lang="en-US" sz="1600" dirty="0" smtClean="0">
                <a:solidFill>
                  <a:schemeClr val="tx1"/>
                </a:solidFill>
              </a:rPr>
              <a:t>" /&gt;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&lt;/Assemblies&gt;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&lt;/Solution&gt;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SolutionConfig.xml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42910" y="1714488"/>
            <a:ext cx="8072494" cy="43577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&lt;?xml version="1.0" encoding="utf-8"?&gt;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&lt;Solution&gt;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SolutionId</a:t>
            </a:r>
            <a:r>
              <a:rPr lang="en-US" sz="1400" dirty="0" smtClean="0">
                <a:solidFill>
                  <a:schemeClr val="tx1"/>
                </a:solidFill>
              </a:rPr>
              <a:t>&gt;4E632645-2F2C-4f3e-9BEE-2CE9B6D842D1&lt;/</a:t>
            </a:r>
            <a:r>
              <a:rPr lang="en-US" sz="1400" dirty="0" err="1" smtClean="0">
                <a:solidFill>
                  <a:schemeClr val="tx1"/>
                </a:solidFill>
              </a:rPr>
              <a:t>SolutionId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SolutionName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  <a:r>
              <a:rPr lang="en-US" sz="14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400" dirty="0" smtClean="0">
                <a:solidFill>
                  <a:schemeClr val="tx1"/>
                </a:solidFill>
              </a:rPr>
              <a:t>&lt;/</a:t>
            </a:r>
            <a:r>
              <a:rPr lang="en-US" sz="1400" dirty="0" err="1" smtClean="0">
                <a:solidFill>
                  <a:schemeClr val="tx1"/>
                </a:solidFill>
              </a:rPr>
              <a:t>SolutionName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ResetWebServer</a:t>
            </a:r>
            <a:r>
              <a:rPr lang="en-US" sz="1400" dirty="0" smtClean="0">
                <a:solidFill>
                  <a:schemeClr val="tx1"/>
                </a:solidFill>
              </a:rPr>
              <a:t>&gt;True&lt;/</a:t>
            </a:r>
            <a:r>
              <a:rPr lang="en-US" sz="1400" dirty="0" err="1" smtClean="0">
                <a:solidFill>
                  <a:schemeClr val="tx1"/>
                </a:solidFill>
              </a:rPr>
              <a:t>ResetWebServer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AssemblyDeployment</a:t>
            </a:r>
            <a:r>
              <a:rPr lang="en-US" sz="1400" dirty="0" smtClean="0">
                <a:solidFill>
                  <a:schemeClr val="tx1"/>
                </a:solidFill>
              </a:rPr>
              <a:t>&gt;True&lt;/</a:t>
            </a:r>
            <a:r>
              <a:rPr lang="en-US" sz="1400" dirty="0" err="1" smtClean="0">
                <a:solidFill>
                  <a:schemeClr val="tx1"/>
                </a:solidFill>
              </a:rPr>
              <a:t>AssemblyDeployment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SafeControlSettings</a:t>
            </a:r>
            <a:r>
              <a:rPr lang="en-US" sz="1400" dirty="0" smtClean="0">
                <a:solidFill>
                  <a:schemeClr val="tx1"/>
                </a:solidFill>
              </a:rPr>
              <a:t>&gt;False&lt;/</a:t>
            </a:r>
            <a:r>
              <a:rPr lang="en-US" sz="1400" dirty="0" err="1" smtClean="0">
                <a:solidFill>
                  <a:schemeClr val="tx1"/>
                </a:solidFill>
              </a:rPr>
              <a:t>SafeControlSettings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</a:t>
            </a:r>
            <a:r>
              <a:rPr lang="en-US" sz="1400" dirty="0" err="1" smtClean="0">
                <a:solidFill>
                  <a:schemeClr val="tx1"/>
                </a:solidFill>
              </a:rPr>
              <a:t>CasPermissions</a:t>
            </a:r>
            <a:r>
              <a:rPr lang="en-US" sz="1400" dirty="0" smtClean="0">
                <a:solidFill>
                  <a:schemeClr val="tx1"/>
                </a:solidFill>
              </a:rPr>
              <a:t>&gt;False&lt;/</a:t>
            </a:r>
            <a:r>
              <a:rPr lang="en-US" sz="1400" dirty="0" err="1" smtClean="0">
                <a:solidFill>
                  <a:schemeClr val="tx1"/>
                </a:solidFill>
              </a:rPr>
              <a:t>CasPermissions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&lt;!--Assembly files--&gt;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&lt;Assemblies&gt;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&lt;Assembly Location="MailNotification.dll" </a:t>
            </a:r>
            <a:r>
              <a:rPr lang="en-US" sz="1400" dirty="0" err="1" smtClean="0">
                <a:solidFill>
                  <a:schemeClr val="tx1"/>
                </a:solidFill>
              </a:rPr>
              <a:t>DeploymentTarget</a:t>
            </a:r>
            <a:r>
              <a:rPr lang="en-US" sz="1400" dirty="0" smtClean="0">
                <a:solidFill>
                  <a:schemeClr val="tx1"/>
                </a:solidFill>
              </a:rPr>
              <a:t>="</a:t>
            </a:r>
            <a:r>
              <a:rPr lang="en-US" sz="1400" dirty="0" err="1" smtClean="0">
                <a:solidFill>
                  <a:schemeClr val="tx1"/>
                </a:solidFill>
              </a:rPr>
              <a:t>GlobalAssemblyCache</a:t>
            </a:r>
            <a:r>
              <a:rPr lang="en-US" sz="1400" dirty="0" smtClean="0">
                <a:solidFill>
                  <a:schemeClr val="tx1"/>
                </a:solidFill>
              </a:rPr>
              <a:t>"&gt;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&lt;</a:t>
            </a:r>
            <a:r>
              <a:rPr lang="en-US" sz="1400" dirty="0" err="1" smtClean="0">
                <a:solidFill>
                  <a:schemeClr val="tx1"/>
                </a:solidFill>
              </a:rPr>
              <a:t>SafeControls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&lt;</a:t>
            </a:r>
            <a:r>
              <a:rPr lang="en-US" sz="1400" dirty="0" err="1" smtClean="0">
                <a:solidFill>
                  <a:schemeClr val="tx1"/>
                </a:solidFill>
              </a:rPr>
              <a:t>SafeControl</a:t>
            </a:r>
            <a:r>
              <a:rPr lang="en-US" sz="1400" dirty="0" smtClean="0">
                <a:solidFill>
                  <a:schemeClr val="tx1"/>
                </a:solidFill>
              </a:rPr>
              <a:t> Assembly="</a:t>
            </a:r>
            <a:r>
              <a:rPr lang="en-US" sz="1400" dirty="0" err="1" smtClean="0">
                <a:solidFill>
                  <a:schemeClr val="tx1"/>
                </a:solidFill>
              </a:rPr>
              <a:t>MailNotification</a:t>
            </a:r>
            <a:r>
              <a:rPr lang="en-US" sz="1400" dirty="0" smtClean="0">
                <a:solidFill>
                  <a:schemeClr val="tx1"/>
                </a:solidFill>
              </a:rPr>
              <a:t>, Version=1.0.0.0, Culture=neutral, </a:t>
            </a:r>
            <a:r>
              <a:rPr lang="en-US" sz="1400" dirty="0" err="1" smtClean="0">
                <a:solidFill>
                  <a:schemeClr val="tx1"/>
                </a:solidFill>
              </a:rPr>
              <a:t>PublicKeyToken</a:t>
            </a:r>
            <a:r>
              <a:rPr lang="en-US" sz="1400" dirty="0" smtClean="0">
                <a:solidFill>
                  <a:schemeClr val="tx1"/>
                </a:solidFill>
              </a:rPr>
              <a:t>=089c6f0ded1f8cd2" Namespace="Integrations" </a:t>
            </a:r>
            <a:r>
              <a:rPr lang="en-US" sz="1400" dirty="0" err="1" smtClean="0">
                <a:solidFill>
                  <a:schemeClr val="tx1"/>
                </a:solidFill>
              </a:rPr>
              <a:t>TypeName</a:t>
            </a:r>
            <a:r>
              <a:rPr lang="en-US" sz="1400" dirty="0" smtClean="0">
                <a:solidFill>
                  <a:schemeClr val="tx1"/>
                </a:solidFill>
              </a:rPr>
              <a:t>="*" Safe="True" /&gt;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&lt;/</a:t>
            </a:r>
            <a:r>
              <a:rPr lang="en-US" sz="1400" dirty="0" err="1" smtClean="0">
                <a:solidFill>
                  <a:schemeClr val="tx1"/>
                </a:solidFill>
              </a:rPr>
              <a:t>SafeControls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&lt;/Assembly&gt;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&lt;/Assemblies&gt;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&lt;/Solution&gt;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357291" y="2743201"/>
            <a:ext cx="6715172" cy="900114"/>
          </a:xfrm>
        </p:spPr>
        <p:txBody>
          <a:bodyPr>
            <a:normAutofit/>
          </a:bodyPr>
          <a:lstStyle/>
          <a:p>
            <a:r>
              <a:rPr lang="de-AT" sz="2400" b="1" cap="small" dirty="0" smtClean="0"/>
              <a:t>ALEXANDER.PAJER@INTEGRATIONS.AT</a:t>
            </a:r>
            <a:endParaRPr lang="de-AT" sz="2400" b="1" cap="smal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THANK YOU!!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tions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Font typeface="Arial" pitchFamily="34" charset="0"/>
          <a:buChar char="•"/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lder" ma:contentTypeID="0x012000D97F050F13A0BA458AD23DA344BCDFAE" ma:contentTypeVersion="0" ma:contentTypeDescription="Create a new folder." ma:contentTypeScope="" ma:versionID="550c1da0f5d4b2f3c22470012683d4b5">
  <xsd:schema xmlns:xsd="http://www.w3.org/2001/XMLSchema" xmlns:p="http://schemas.microsoft.com/office/2006/metadata/properties" targetNamespace="http://schemas.microsoft.com/office/2006/metadata/properties" ma:root="true" ma:fieldsID="d275e67360629ab4e5a555c8847cde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ListForm</Display>
  <Edit>ListForm</Edit>
  <New>ListForm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7A3F87F-CCA7-4A3D-823B-D478DAAF7E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168F8D2-B117-4685-B314-6E16B8B9E1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FFDFF7-5F17-4289-BB00-C806C2DDB0B9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88</TotalTime>
  <Words>709</Words>
  <Application>Microsoft Office PowerPoint</Application>
  <PresentationFormat>On-screen Show (4:3)</PresentationFormat>
  <Paragraphs>163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Integrations</vt:lpstr>
      <vt:lpstr>SharePoint 2007 Handling Events</vt:lpstr>
      <vt:lpstr>Agenda</vt:lpstr>
      <vt:lpstr>SharePoint Event Handler</vt:lpstr>
      <vt:lpstr>EventReceiver</vt:lpstr>
      <vt:lpstr>Accessing Event Information</vt:lpstr>
      <vt:lpstr>Implementing a EventReceiver</vt:lpstr>
      <vt:lpstr>Synchronous Events</vt:lpstr>
      <vt:lpstr>Binding Event Handler Programmatically</vt:lpstr>
      <vt:lpstr>Binding Events using SharePoint Inspector</vt:lpstr>
      <vt:lpstr>Deploying an Event Handler as Feature</vt:lpstr>
      <vt:lpstr>Feature.xml</vt:lpstr>
      <vt:lpstr>Elements.xml</vt:lpstr>
      <vt:lpstr>Package DDF</vt:lpstr>
      <vt:lpstr>Manifest.xml</vt:lpstr>
      <vt:lpstr>SolutionConfig.xml</vt:lpstr>
      <vt:lpstr>THANK YOU!!</vt:lpstr>
    </vt:vector>
  </TitlesOfParts>
  <Company>Integrations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MDX Basics</dc:title>
  <dc:creator>Alexander Pajer</dc:creator>
  <cp:lastModifiedBy>Training</cp:lastModifiedBy>
  <cp:revision>202</cp:revision>
  <dcterms:created xsi:type="dcterms:W3CDTF">2007-06-01T19:59:47Z</dcterms:created>
  <dcterms:modified xsi:type="dcterms:W3CDTF">2009-04-28T10:53:14Z</dcterms:modified>
  <cp:contentType>Folder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0x012000D97F050F13A0BA458AD23DA344BCDFAE</vt:lpwstr>
  </property>
</Properties>
</file>