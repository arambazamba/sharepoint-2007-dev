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44"/>
  </p:notesMasterIdLst>
  <p:sldIdLst>
    <p:sldId id="256" r:id="rId5"/>
    <p:sldId id="257" r:id="rId6"/>
    <p:sldId id="264" r:id="rId7"/>
    <p:sldId id="265" r:id="rId8"/>
    <p:sldId id="266" r:id="rId9"/>
    <p:sldId id="267" r:id="rId10"/>
    <p:sldId id="275" r:id="rId11"/>
    <p:sldId id="268" r:id="rId12"/>
    <p:sldId id="308" r:id="rId13"/>
    <p:sldId id="269" r:id="rId14"/>
    <p:sldId id="270" r:id="rId15"/>
    <p:sldId id="271" r:id="rId16"/>
    <p:sldId id="272" r:id="rId17"/>
    <p:sldId id="273" r:id="rId18"/>
    <p:sldId id="289" r:id="rId19"/>
    <p:sldId id="291" r:id="rId20"/>
    <p:sldId id="307" r:id="rId21"/>
    <p:sldId id="305" r:id="rId22"/>
    <p:sldId id="306" r:id="rId23"/>
    <p:sldId id="294" r:id="rId24"/>
    <p:sldId id="295" r:id="rId25"/>
    <p:sldId id="280" r:id="rId26"/>
    <p:sldId id="284" r:id="rId27"/>
    <p:sldId id="304" r:id="rId28"/>
    <p:sldId id="277" r:id="rId29"/>
    <p:sldId id="285" r:id="rId30"/>
    <p:sldId id="286" r:id="rId31"/>
    <p:sldId id="293" r:id="rId32"/>
    <p:sldId id="297" r:id="rId33"/>
    <p:sldId id="298" r:id="rId34"/>
    <p:sldId id="279" r:id="rId35"/>
    <p:sldId id="296" r:id="rId36"/>
    <p:sldId id="288" r:id="rId37"/>
    <p:sldId id="287" r:id="rId38"/>
    <p:sldId id="299" r:id="rId39"/>
    <p:sldId id="300" r:id="rId40"/>
    <p:sldId id="302" r:id="rId41"/>
    <p:sldId id="303" r:id="rId42"/>
    <p:sldId id="263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14" autoAdjust="0"/>
    <p:restoredTop sz="94660"/>
  </p:normalViewPr>
  <p:slideViewPr>
    <p:cSldViewPr>
      <p:cViewPr>
        <p:scale>
          <a:sx n="112" d="100"/>
          <a:sy n="112" d="100"/>
        </p:scale>
        <p:origin x="3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B2532-BD50-4D1A-9601-1081A0A32BCD}" type="datetimeFigureOut">
              <a:rPr lang="de-DE" smtClean="0"/>
              <a:pPr/>
              <a:t>28.04.2009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15A38-35E3-4A92-A011-FA57A3458EAB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60416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>
            <a:headEnd type="none" w="med" len="med"/>
            <a:tailEnd type="none" w="med" len="med"/>
          </a:ln>
        </p:spPr>
      </p:sp>
      <p:sp>
        <p:nvSpPr>
          <p:cNvPr id="97283" name="Rectangle 9728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61440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>
            <a:headEnd type="none" w="med" len="med"/>
            <a:tailEnd type="none" w="med" len="med"/>
          </a:ln>
        </p:spPr>
      </p:sp>
      <p:sp>
        <p:nvSpPr>
          <p:cNvPr id="135171" name="Rectangle 135170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1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62464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>
            <a:headEnd type="none" w="med" len="med"/>
            <a:tailEnd type="none" w="med" len="med"/>
          </a:ln>
        </p:spPr>
      </p:sp>
      <p:sp>
        <p:nvSpPr>
          <p:cNvPr id="130051" name="Rectangle 130050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72" y="228600"/>
            <a:ext cx="7000924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 smtClean="0"/>
              <a:t>Agenda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</p:txBody>
      </p:sp>
      <p:pic>
        <p:nvPicPr>
          <p:cNvPr id="2051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  <p:pic>
        <p:nvPicPr>
          <p:cNvPr id="9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3357562"/>
            <a:ext cx="7123113" cy="2286016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14422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586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85860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28" y="128586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  <p:pic>
        <p:nvPicPr>
          <p:cNvPr id="10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2285992"/>
            <a:ext cx="7123113" cy="3500462"/>
          </a:xfrm>
        </p:spPr>
        <p:txBody>
          <a:bodyPr anchor="t"/>
          <a:lstStyle>
            <a:lvl1pPr marL="0" indent="0">
              <a:buFontTx/>
              <a:buBlip>
                <a:blip r:embed="rId2"/>
              </a:buBlip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92867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00964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000108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2867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08107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9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  <p:pic>
        <p:nvPicPr>
          <p:cNvPr id="11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solidFill>
            <a:srgbClr val="69657E"/>
          </a:solidFill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noFill/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None/>
              <a:defRPr kumimoji="0" lang="de-AT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5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rev="1">
        <p:tmplLst>
          <p:tmpl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7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6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5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7422" y="3786190"/>
            <a:ext cx="6477000" cy="1828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SharePoint 2007</a:t>
            </a:r>
            <a:br>
              <a:rPr lang="en-US" sz="3600" dirty="0" smtClean="0"/>
            </a:br>
            <a:r>
              <a:rPr lang="en-US" sz="3600" dirty="0" smtClean="0"/>
              <a:t>Features And Solutions</a:t>
            </a:r>
            <a:endParaRPr lang="en-US"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de-AT" dirty="0" smtClean="0"/>
              <a:t> © 2007 Alexander Pajer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What are SharePoint Features?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Implementing &amp; Deploying Features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What are SharePoint Solutions?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Implementing &amp; Deploying Solutions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Managing Solutions using the Object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smtClean="0"/>
              <a:t> What are SharePoint Features?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What are SharePoint Features?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Features are modular functionality that can be activated on a new or existing Site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Features are stored in </a:t>
            </a:r>
            <a:r>
              <a:rPr lang="de-AT" dirty="0" smtClean="0"/>
              <a:t>12\Template\Features</a:t>
            </a:r>
            <a:endParaRPr lang="de-AT" dirty="0" smtClean="0"/>
          </a:p>
          <a:p>
            <a:pPr>
              <a:lnSpc>
                <a:spcPct val="150000"/>
              </a:lnSpc>
            </a:pPr>
            <a:r>
              <a:rPr lang="de-AT" dirty="0" smtClean="0"/>
              <a:t>Features can be made available on different scopes  (Farm|Web Application|Site Collection|Site) and are the basic unit of deployment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SharePoint Feature Types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Features can include: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Fields, Content Types, Content Type Binding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Custom Actions and Custom Action Groups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Document Converters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Feature / Site Template Association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List Instances / Templates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ASPX, HTML-Files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Event Receiver, Workflows, Webparts</a:t>
            </a:r>
          </a:p>
          <a:p>
            <a:pPr lvl="1"/>
            <a:endParaRPr lang="de-AT" dirty="0" smtClean="0"/>
          </a:p>
          <a:p>
            <a:pPr lvl="1"/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 Files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Features are defined using: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Feature.xml </a:t>
            </a:r>
            <a:br>
              <a:rPr lang="de-AT" dirty="0" smtClean="0"/>
            </a:br>
            <a:r>
              <a:rPr lang="de-AT" dirty="0" smtClean="0"/>
              <a:t>The core definition file of a feature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Elements.xml </a:t>
            </a:r>
            <a:br>
              <a:rPr lang="de-AT" dirty="0" smtClean="0"/>
            </a:br>
            <a:r>
              <a:rPr lang="de-AT" dirty="0" smtClean="0"/>
              <a:t>Define the elements of a feature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Ressource Files  </a:t>
            </a:r>
            <a:br>
              <a:rPr lang="de-AT" dirty="0" smtClean="0"/>
            </a:br>
            <a:r>
              <a:rPr lang="de-AT" dirty="0" smtClean="0"/>
              <a:t>Additional Ressources used by features such as assemblies, aspx, graphical files,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Implementing Features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Feature.xml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Feature.xml defines: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Feature Title, ID &amp; Version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Scope (Farm|Web Application|Site Collection|Site)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ActivationDependencies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Ressource Files to support multilingual implementation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ReceiverAssembly, ReceiverClass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ElementManifests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Editing Features using </a:t>
            </a:r>
            <a:r>
              <a:rPr lang="de-AT" dirty="0" smtClean="0"/>
              <a:t>VS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de-AT" sz="2400" dirty="0" smtClean="0"/>
              <a:t>Core Schema Files which can be referenced are located in</a:t>
            </a:r>
            <a:br>
              <a:rPr lang="de-AT" sz="2400" dirty="0" smtClean="0"/>
            </a:br>
            <a:r>
              <a:rPr lang="de-AT" sz="2400" dirty="0" smtClean="0"/>
              <a:t> </a:t>
            </a:r>
          </a:p>
          <a:p>
            <a:pPr>
              <a:buNone/>
            </a:pPr>
            <a:r>
              <a:rPr lang="de-AT" sz="2000" dirty="0" smtClean="0"/>
              <a:t>%SystemDrive%\Program Files\Common Files\Microsoft Shared</a:t>
            </a:r>
          </a:p>
          <a:p>
            <a:pPr>
              <a:buNone/>
            </a:pPr>
            <a:r>
              <a:rPr lang="de-AT" sz="2000" dirty="0" smtClean="0"/>
              <a:t>\web server extensions\12\Template\xml</a:t>
            </a:r>
          </a:p>
          <a:p>
            <a:pPr>
              <a:buNone/>
            </a:pPr>
            <a:r>
              <a:rPr lang="de-AT" dirty="0" smtClean="0"/>
              <a:t/>
            </a:r>
            <a:br>
              <a:rPr lang="de-AT" dirty="0" smtClean="0"/>
            </a:br>
            <a:endParaRPr lang="de-AT" sz="1600" b="1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286124"/>
            <a:ext cx="2616338" cy="2719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3429000"/>
            <a:ext cx="3857625" cy="22955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Feature.xml Cont.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de-AT" sz="2400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785926"/>
            <a:ext cx="8143932" cy="40005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&lt;Feature Id="DF8E5369-DF61-439e-AF52-E4611C7E3187" 			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Title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SimpleFeature</a:t>
            </a:r>
            <a:r>
              <a:rPr lang="en-US" sz="1600" dirty="0" smtClean="0">
                <a:solidFill>
                  <a:schemeClr val="tx1"/>
                </a:solidFill>
              </a:rPr>
              <a:t>"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Description</a:t>
            </a:r>
            <a:r>
              <a:rPr lang="en-US" sz="1600" dirty="0" smtClean="0">
                <a:solidFill>
                  <a:schemeClr val="tx1"/>
                </a:solidFill>
              </a:rPr>
              <a:t>="Demonstration of the SharePoint Feature Pattern"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Scope</a:t>
            </a:r>
            <a:r>
              <a:rPr lang="en-US" sz="1600" dirty="0" smtClean="0">
                <a:solidFill>
                  <a:schemeClr val="tx1"/>
                </a:solidFill>
              </a:rPr>
              <a:t>="Web"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Hidden</a:t>
            </a:r>
            <a:r>
              <a:rPr lang="en-US" sz="1600" dirty="0" smtClean="0">
                <a:solidFill>
                  <a:schemeClr val="tx1"/>
                </a:solidFill>
              </a:rPr>
              <a:t>="FALSE"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</a:rPr>
              <a:t>ImageUrl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SimpleFeature</a:t>
            </a:r>
            <a:r>
              <a:rPr lang="en-US" sz="1600" dirty="0" smtClean="0">
                <a:solidFill>
                  <a:schemeClr val="tx1"/>
                </a:solidFill>
              </a:rPr>
              <a:t>\components.png"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</a:rPr>
              <a:t>xmlns</a:t>
            </a:r>
            <a:r>
              <a:rPr lang="en-US" sz="1600" dirty="0" smtClean="0">
                <a:solidFill>
                  <a:schemeClr val="tx1"/>
                </a:solidFill>
              </a:rPr>
              <a:t>="http://schemas.microsoft.com/sharepoint/"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</a:rPr>
              <a:t>ReceiverClass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Integrations.SimpleFeatureReceiver</a:t>
            </a:r>
            <a:r>
              <a:rPr lang="en-US" sz="1600" dirty="0" smtClean="0">
                <a:solidFill>
                  <a:schemeClr val="tx1"/>
                </a:solidFill>
              </a:rPr>
              <a:t>"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</a:rPr>
              <a:t>ReceiverAssembly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SimpleSolution</a:t>
            </a:r>
            <a:r>
              <a:rPr lang="en-US" sz="1600" dirty="0" smtClean="0">
                <a:solidFill>
                  <a:schemeClr val="tx1"/>
                </a:solidFill>
              </a:rPr>
              <a:t>, Version=1.0.0.0, </a:t>
            </a:r>
            <a:r>
              <a:rPr lang="en-US" sz="1600" dirty="0" smtClean="0">
                <a:solidFill>
                  <a:schemeClr val="tx1"/>
                </a:solidFill>
              </a:rPr>
              <a:t>Culture=neutral,	</a:t>
            </a:r>
            <a:r>
              <a:rPr lang="en-US" sz="1600" dirty="0" err="1" smtClean="0">
                <a:solidFill>
                  <a:schemeClr val="tx1"/>
                </a:solidFill>
              </a:rPr>
              <a:t>PublicKeyToken</a:t>
            </a:r>
            <a:r>
              <a:rPr lang="en-US" sz="1600" dirty="0" smtClean="0">
                <a:solidFill>
                  <a:schemeClr val="tx1"/>
                </a:solidFill>
              </a:rPr>
              <a:t>=733ae791148b24dc</a:t>
            </a:r>
            <a:r>
              <a:rPr lang="en-US" sz="1600" dirty="0" smtClean="0">
                <a:solidFill>
                  <a:schemeClr val="tx1"/>
                </a:solidFill>
              </a:rPr>
              <a:t>"&gt;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</a:t>
            </a:r>
            <a:r>
              <a:rPr lang="en-US" sz="1600" dirty="0" err="1" smtClean="0">
                <a:solidFill>
                  <a:schemeClr val="tx1"/>
                </a:solidFill>
              </a:rPr>
              <a:t>ElementManifests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</a:t>
            </a:r>
            <a:r>
              <a:rPr lang="en-US" sz="1600" dirty="0" smtClean="0">
                <a:solidFill>
                  <a:schemeClr val="tx1"/>
                </a:solidFill>
              </a:rPr>
              <a:t>	&lt;</a:t>
            </a:r>
            <a:r>
              <a:rPr lang="en-US" sz="1600" dirty="0" err="1" smtClean="0">
                <a:solidFill>
                  <a:schemeClr val="tx1"/>
                </a:solidFill>
              </a:rPr>
              <a:t>ElementManifest</a:t>
            </a:r>
            <a:r>
              <a:rPr lang="en-US" sz="1600" dirty="0" smtClean="0">
                <a:solidFill>
                  <a:schemeClr val="tx1"/>
                </a:solidFill>
              </a:rPr>
              <a:t> Location="Elements.xml"/&gt; 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</a:t>
            </a:r>
            <a:r>
              <a:rPr lang="en-US" sz="1600" dirty="0" err="1" smtClean="0">
                <a:solidFill>
                  <a:schemeClr val="tx1"/>
                </a:solidFill>
              </a:rPr>
              <a:t>ElementManifests</a:t>
            </a:r>
            <a:r>
              <a:rPr lang="en-US" sz="1600" dirty="0" smtClean="0">
                <a:solidFill>
                  <a:schemeClr val="tx1"/>
                </a:solidFill>
              </a:rPr>
              <a:t>&gt;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&lt;/Feature&gt;</a:t>
            </a:r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Elements.xml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AT" smtClean="0"/>
              <a:t>Modules are used to deploy files that have the same destination </a:t>
            </a:r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714348" y="2714620"/>
            <a:ext cx="8001056" cy="3214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&lt;Elements </a:t>
            </a:r>
            <a:r>
              <a:rPr lang="en-US" sz="1600" dirty="0" err="1" smtClean="0">
                <a:solidFill>
                  <a:schemeClr val="tx1"/>
                </a:solidFill>
              </a:rPr>
              <a:t>xmlns</a:t>
            </a:r>
            <a:r>
              <a:rPr lang="en-US" sz="1600" dirty="0" smtClean="0">
                <a:solidFill>
                  <a:schemeClr val="tx1"/>
                </a:solidFill>
              </a:rPr>
              <a:t>="http://schemas.microsoft.com/sharepoint/"&gt;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&lt;Module Name="</a:t>
            </a:r>
            <a:r>
              <a:rPr lang="en-US" sz="1600" dirty="0" err="1" smtClean="0">
                <a:solidFill>
                  <a:schemeClr val="tx1"/>
                </a:solidFill>
              </a:rPr>
              <a:t>SimpleFeaturePage</a:t>
            </a:r>
            <a:r>
              <a:rPr lang="en-US" sz="1600" dirty="0" smtClean="0">
                <a:solidFill>
                  <a:schemeClr val="tx1"/>
                </a:solidFill>
              </a:rPr>
              <a:t>" Path="" </a:t>
            </a:r>
            <a:r>
              <a:rPr lang="en-US" sz="1600" dirty="0" err="1" smtClean="0">
                <a:solidFill>
                  <a:schemeClr val="tx1"/>
                </a:solidFill>
              </a:rPr>
              <a:t>Url</a:t>
            </a:r>
            <a:r>
              <a:rPr lang="en-US" sz="1600" dirty="0" smtClean="0">
                <a:solidFill>
                  <a:schemeClr val="tx1"/>
                </a:solidFill>
              </a:rPr>
              <a:t>=""&gt;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</a:t>
            </a:r>
            <a:r>
              <a:rPr lang="en-US" sz="1600" dirty="0" smtClean="0">
                <a:solidFill>
                  <a:schemeClr val="tx1"/>
                </a:solidFill>
              </a:rPr>
              <a:t>	&lt;</a:t>
            </a:r>
            <a:r>
              <a:rPr lang="en-US" sz="1600" dirty="0" smtClean="0">
                <a:solidFill>
                  <a:schemeClr val="tx1"/>
                </a:solidFill>
              </a:rPr>
              <a:t>File </a:t>
            </a:r>
            <a:r>
              <a:rPr lang="en-US" sz="1600" dirty="0" err="1" smtClean="0">
                <a:solidFill>
                  <a:schemeClr val="tx1"/>
                </a:solidFill>
              </a:rPr>
              <a:t>Url</a:t>
            </a:r>
            <a:r>
              <a:rPr lang="en-US" sz="1600" dirty="0" smtClean="0">
                <a:solidFill>
                  <a:schemeClr val="tx1"/>
                </a:solidFill>
              </a:rPr>
              <a:t>="SimpleFeaturePage.aspx" Type="</a:t>
            </a:r>
            <a:r>
              <a:rPr lang="en-US" sz="1600" dirty="0" err="1" smtClean="0">
                <a:solidFill>
                  <a:schemeClr val="tx1"/>
                </a:solidFill>
              </a:rPr>
              <a:t>Ghostable</a:t>
            </a:r>
            <a:r>
              <a:rPr lang="en-US" sz="1600" dirty="0" smtClean="0">
                <a:solidFill>
                  <a:schemeClr val="tx1"/>
                </a:solidFill>
              </a:rPr>
              <a:t>" </a:t>
            </a:r>
            <a:r>
              <a:rPr lang="en-US" sz="1600" dirty="0" smtClean="0">
                <a:solidFill>
                  <a:schemeClr val="tx1"/>
                </a:solidFill>
              </a:rPr>
              <a:t>	</a:t>
            </a:r>
            <a:r>
              <a:rPr lang="en-US" sz="1600" dirty="0" err="1" smtClean="0">
                <a:solidFill>
                  <a:schemeClr val="tx1"/>
                </a:solidFill>
              </a:rPr>
              <a:t>IgnoreIfAlreadyExists</a:t>
            </a:r>
            <a:r>
              <a:rPr lang="en-US" sz="1600" dirty="0" smtClean="0">
                <a:solidFill>
                  <a:schemeClr val="tx1"/>
                </a:solidFill>
              </a:rPr>
              <a:t>="FALSE" /&gt; 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&lt;/Module&gt;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</a:t>
            </a:r>
            <a:r>
              <a:rPr lang="en-US" sz="1600" dirty="0" err="1" smtClean="0">
                <a:solidFill>
                  <a:schemeClr val="tx1"/>
                </a:solidFill>
              </a:rPr>
              <a:t>CustomAction</a:t>
            </a:r>
            <a:r>
              <a:rPr lang="en-US" sz="1600" dirty="0" smtClean="0">
                <a:solidFill>
                  <a:schemeClr val="tx1"/>
                </a:solidFill>
              </a:rPr>
              <a:t> Id="</a:t>
            </a:r>
            <a:r>
              <a:rPr lang="en-US" sz="1600" dirty="0" err="1" smtClean="0">
                <a:solidFill>
                  <a:schemeClr val="tx1"/>
                </a:solidFill>
              </a:rPr>
              <a:t>SiteActionsToolbar</a:t>
            </a:r>
            <a:r>
              <a:rPr lang="en-US" sz="1600" dirty="0" smtClean="0">
                <a:solidFill>
                  <a:schemeClr val="tx1"/>
                </a:solidFill>
              </a:rPr>
              <a:t>" </a:t>
            </a:r>
            <a:r>
              <a:rPr lang="en-US" sz="1600" dirty="0" err="1" smtClean="0">
                <a:solidFill>
                  <a:schemeClr val="tx1"/>
                </a:solidFill>
              </a:rPr>
              <a:t>GroupId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SiteActions</a:t>
            </a:r>
            <a:r>
              <a:rPr lang="en-US" sz="1600" dirty="0" smtClean="0">
                <a:solidFill>
                  <a:schemeClr val="tx1"/>
                </a:solidFill>
              </a:rPr>
              <a:t>" </a:t>
            </a:r>
            <a:r>
              <a:rPr lang="en-US" sz="1600" dirty="0" smtClean="0">
                <a:solidFill>
                  <a:schemeClr val="tx1"/>
                </a:solidFill>
              </a:rPr>
              <a:t>	Location</a:t>
            </a:r>
            <a:r>
              <a:rPr lang="en-US" sz="1600" dirty="0" smtClean="0">
                <a:solidFill>
                  <a:schemeClr val="tx1"/>
                </a:solidFill>
              </a:rPr>
              <a:t>="</a:t>
            </a:r>
            <a:r>
              <a:rPr lang="en-US" sz="1600" dirty="0" err="1" smtClean="0">
                <a:solidFill>
                  <a:schemeClr val="tx1"/>
                </a:solidFill>
              </a:rPr>
              <a:t>Microsoft.SharePoint.StandardMenu</a:t>
            </a:r>
            <a:r>
              <a:rPr lang="en-US" sz="1600" dirty="0" smtClean="0">
                <a:solidFill>
                  <a:schemeClr val="tx1"/>
                </a:solidFill>
              </a:rPr>
              <a:t>" Sequence="1000"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            Title="Simple Feature Info"&gt;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</a:t>
            </a:r>
            <a:r>
              <a:rPr lang="en-US" sz="1600" dirty="0" smtClean="0">
                <a:solidFill>
                  <a:schemeClr val="tx1"/>
                </a:solidFill>
              </a:rPr>
              <a:t>	&lt;</a:t>
            </a:r>
            <a:r>
              <a:rPr lang="en-US" sz="1600" dirty="0" err="1" smtClean="0">
                <a:solidFill>
                  <a:schemeClr val="tx1"/>
                </a:solidFill>
              </a:rPr>
              <a:t>UrlAction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Url</a:t>
            </a:r>
            <a:r>
              <a:rPr lang="en-US" sz="1600" dirty="0" smtClean="0">
                <a:solidFill>
                  <a:schemeClr val="tx1"/>
                </a:solidFill>
              </a:rPr>
              <a:t>="~site/_layouts/SimpleFeaturePage.aspx"/&gt;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&lt;/</a:t>
            </a:r>
            <a:r>
              <a:rPr lang="en-US" sz="1600" dirty="0" err="1" smtClean="0">
                <a:solidFill>
                  <a:schemeClr val="tx1"/>
                </a:solidFill>
              </a:rPr>
              <a:t>CustomAction</a:t>
            </a:r>
            <a:r>
              <a:rPr lang="en-US" sz="1600" dirty="0" smtClean="0">
                <a:solidFill>
                  <a:schemeClr val="tx1"/>
                </a:solidFill>
              </a:rPr>
              <a:t>&gt; 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&lt;/Elements&gt;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Resource Files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Resource Files enable multilingual support for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Provisioned Pages (ASPX)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Web Parts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Lists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Resource Files allow storing configuration details in pluggable files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Resource Files Cont.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143116"/>
            <a:ext cx="8143932" cy="328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400" dirty="0" smtClean="0">
                <a:solidFill>
                  <a:schemeClr val="tx1"/>
                </a:solidFill>
              </a:rPr>
              <a:t>&lt;Feature Id="DF8E5369-DF61-439e-AF52-E4611C7E3187" </a:t>
            </a:r>
          </a:p>
          <a:p>
            <a:r>
              <a:rPr lang="de-AT" sz="1400" dirty="0" smtClean="0">
                <a:solidFill>
                  <a:schemeClr val="bg2"/>
                </a:solidFill>
              </a:rPr>
              <a:t>         Title=„$Resouces:core, SmartFeatureTitle;" 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Description="Demonstration of the SharePoint Feature Pattern" Scope="Web" 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Hidden="FALSE"  xmlns="http://schemas.microsoft.com/SharePoint/"   </a:t>
            </a:r>
            <a:br>
              <a:rPr lang="de-AT" sz="1400" dirty="0" smtClean="0">
                <a:solidFill>
                  <a:schemeClr val="tx1"/>
                </a:solidFill>
              </a:rPr>
            </a:br>
            <a:r>
              <a:rPr lang="de-AT" sz="1400" dirty="0" smtClean="0">
                <a:solidFill>
                  <a:schemeClr val="tx1"/>
                </a:solidFill>
              </a:rPr>
              <a:t>         </a:t>
            </a:r>
            <a:r>
              <a:rPr lang="de-AT" sz="1400" dirty="0" smtClean="0">
                <a:solidFill>
                  <a:schemeClr val="bg2"/>
                </a:solidFill>
              </a:rPr>
              <a:t>DefaultResourceFile=„core“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ReceiverClass="Integrations.SmartFeatureReceiver"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ReceiverAssembly="SmartFeature, Version=1.0.0.0, Culture=neutral, PublicKeyToken=..."&gt;</a:t>
            </a:r>
          </a:p>
          <a:p>
            <a:pPr lvl="1"/>
            <a:r>
              <a:rPr lang="de-AT" sz="1400" dirty="0" smtClean="0">
                <a:solidFill>
                  <a:schemeClr val="tx1"/>
                </a:solidFill>
              </a:rPr>
              <a:t>&lt;ElementManifests&gt;</a:t>
            </a:r>
          </a:p>
          <a:p>
            <a:pPr lvl="1"/>
            <a:r>
              <a:rPr lang="de-AT" sz="1400" dirty="0" smtClean="0">
                <a:solidFill>
                  <a:schemeClr val="tx1"/>
                </a:solidFill>
              </a:rPr>
              <a:t>         &lt;ElementManifest Location="Elements.xml"/&gt;   </a:t>
            </a:r>
          </a:p>
          <a:p>
            <a:pPr lvl="1"/>
            <a:r>
              <a:rPr lang="de-AT" sz="1400" dirty="0" smtClean="0">
                <a:solidFill>
                  <a:schemeClr val="tx1"/>
                </a:solidFill>
              </a:rPr>
              <a:t>&lt;/ElementManifests&gt;  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&lt;/Feature&gt;</a:t>
            </a:r>
            <a:endParaRPr lang="de-AT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 Scope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e-AT" sz="2400" dirty="0" smtClean="0"/>
              <a:t>Different Eltements can be bound on different Scopes</a:t>
            </a:r>
            <a:endParaRPr lang="de-AT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2910" y="2214554"/>
          <a:ext cx="8072494" cy="359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92"/>
                <a:gridCol w="5643602"/>
              </a:tblGrid>
              <a:tr h="332699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Scope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Bindable Element</a:t>
                      </a:r>
                      <a:endParaRPr lang="de-AT" sz="1600" dirty="0"/>
                    </a:p>
                  </a:txBody>
                  <a:tcPr/>
                </a:tc>
              </a:tr>
              <a:tr h="582223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Farm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Control, Custom</a:t>
                      </a:r>
                      <a:r>
                        <a:rPr lang="de-AT" sz="1600" baseline="0" dirty="0" smtClean="0"/>
                        <a:t> Action, Custom Action Group, Document Converter, Feature / Site Template Association</a:t>
                      </a:r>
                      <a:endParaRPr lang="de-AT" sz="1600" dirty="0"/>
                    </a:p>
                  </a:txBody>
                  <a:tcPr/>
                </a:tc>
              </a:tr>
              <a:tr h="708671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Web Application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Control, Custom</a:t>
                      </a:r>
                      <a:r>
                        <a:rPr lang="de-AT" sz="1600" baseline="0" dirty="0" smtClean="0"/>
                        <a:t> Action, Custom Action Group, Document Converter, Feature / Site Template Association</a:t>
                      </a:r>
                      <a:endParaRPr lang="de-AT" sz="1600" dirty="0" smtClean="0"/>
                    </a:p>
                  </a:txBody>
                  <a:tcPr/>
                </a:tc>
              </a:tr>
              <a:tr h="1136359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Site Collection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Content Type,</a:t>
                      </a:r>
                      <a:r>
                        <a:rPr lang="de-AT" sz="1600" baseline="0" dirty="0" smtClean="0"/>
                        <a:t> Content Type Binding, Field, List Instance, Module, Workflow, </a:t>
                      </a:r>
                      <a:r>
                        <a:rPr lang="de-AT" sz="1600" dirty="0" smtClean="0"/>
                        <a:t>Control, Custom</a:t>
                      </a:r>
                      <a:r>
                        <a:rPr lang="de-AT" sz="1600" baseline="0" dirty="0" smtClean="0"/>
                        <a:t> Action, Custom Action Group, Document Converter, Feature / Site Template Association</a:t>
                      </a:r>
                      <a:endParaRPr lang="de-AT" sz="1600" dirty="0" smtClean="0"/>
                    </a:p>
                  </a:txBody>
                  <a:tcPr/>
                </a:tc>
              </a:tr>
              <a:tr h="831748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Site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baseline="0" dirty="0" smtClean="0"/>
                        <a:t>Content Type Binding, List Instance, List Template, Module, Receiver, </a:t>
                      </a:r>
                      <a:r>
                        <a:rPr lang="de-AT" sz="1600" dirty="0" smtClean="0"/>
                        <a:t>Control, Custom</a:t>
                      </a:r>
                      <a:r>
                        <a:rPr lang="de-AT" sz="1600" baseline="0" dirty="0" smtClean="0"/>
                        <a:t> Action, Custom Action Group, Document Converter, Feature / Site Template Association</a:t>
                      </a:r>
                      <a:endParaRPr lang="de-AT" sz="16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 Dependency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A Feature can have a Dependeny on antoher Feature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Features follow the Dependency Rules from SDK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When defining Dependency consider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Activation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Scope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Leves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Hidden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 Dependency</a:t>
            </a:r>
            <a:endParaRPr lang="de-AT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Rounded Rectangle 4"/>
          <p:cNvSpPr/>
          <p:nvPr/>
        </p:nvSpPr>
        <p:spPr>
          <a:xfrm>
            <a:off x="714348" y="1857364"/>
            <a:ext cx="8001056" cy="4500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&lt;Feature Id="DF8E5369-DF61-439e-AF52-E4611C7E3187"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Title="Custom Application Page"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   Description="Pattern for a custom Application Page" Scope="Web" </a:t>
            </a:r>
          </a:p>
          <a:p>
            <a:r>
              <a:rPr lang="da-DK" dirty="0" smtClean="0">
                <a:solidFill>
                  <a:schemeClr val="tx1"/>
                </a:solidFill>
              </a:rPr>
              <a:t>         Hidden="FALSE"  xmlns="http://schemas.microsoft.com/SharePoint/"&gt;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&lt;ActivationDependencies&gt;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	&lt;!-- Site Settings Feature --&gt;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	&lt;ActivationDependency FeatureId="934A0D6A-BC62-43b2-8A0B-BF26816F7C30"/&gt;		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&lt;/ActivationDependencies&gt;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	&lt;!--ReceiverClass="...." ReceiverAssembly="..."&gt;--&gt;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&lt;ElementManifests&gt;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	&lt;ElementManifest Location="Elements.xml"/&gt;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&lt;/ElementManifests&gt;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&lt;/Feature&gt;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Feature Deployment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Deploying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If the Feature contains codee sign the </a:t>
            </a:r>
            <a:r>
              <a:rPr lang="de-AT" dirty="0" smtClean="0"/>
              <a:t>a</a:t>
            </a:r>
            <a:r>
              <a:rPr lang="de-AT" dirty="0" smtClean="0"/>
              <a:t>ssembly and copy it to </a:t>
            </a:r>
            <a:r>
              <a:rPr lang="de-AT" dirty="0" smtClean="0"/>
              <a:t>GAC / BIN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If deployed to GAC r</a:t>
            </a:r>
            <a:r>
              <a:rPr lang="de-AT" dirty="0" smtClean="0"/>
              <a:t>egister the assembly </a:t>
            </a:r>
            <a:r>
              <a:rPr lang="de-AT" dirty="0" smtClean="0"/>
              <a:t>as Safe Control in web.config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Copy Feature to the Features Folder</a:t>
            </a:r>
            <a:endParaRPr lang="de-AT" dirty="0" smtClean="0"/>
          </a:p>
          <a:p>
            <a:endParaRPr lang="de-AT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Security Requirements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Event Handlers have to be signed in order to be deployed to GAC / Web Application BIN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Event Handlers have to be marked as „safe“ in order to satisfy CAS-Requirements</a:t>
            </a:r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4643446"/>
            <a:ext cx="8072494" cy="1500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&lt;SafeControl Assembly=„MOSSEvtHandlers, Version=1.0.0.0, Culture=neutral, 	PublicKeyToken=f44d8c5f4c147679"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Namespace="Integrations"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TypeName="*"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Safe="True" /&gt;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 smtClean="0"/>
              <a:t>Deploying a Feature using a Batch 1/2</a:t>
            </a:r>
            <a:endParaRPr lang="de-A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1785926"/>
            <a:ext cx="7929618" cy="4286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echo Copying feature files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echo.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rd /s /q "%</a:t>
            </a:r>
            <a:r>
              <a:rPr lang="en-US" dirty="0" err="1" smtClean="0">
                <a:solidFill>
                  <a:schemeClr val="tx1"/>
                </a:solidFill>
              </a:rPr>
              <a:t>CommonProgramFiles</a:t>
            </a:r>
            <a:r>
              <a:rPr lang="en-US" dirty="0" smtClean="0">
                <a:solidFill>
                  <a:schemeClr val="tx1"/>
                </a:solidFill>
              </a:rPr>
              <a:t>%\Microsoft Shared\web server extensions\12\TEMPLATE\FEATURES\</a:t>
            </a:r>
            <a:r>
              <a:rPr lang="en-US" dirty="0" err="1" smtClean="0">
                <a:solidFill>
                  <a:schemeClr val="tx1"/>
                </a:solidFill>
              </a:rPr>
              <a:t>YourFeature</a:t>
            </a:r>
            <a:r>
              <a:rPr lang="en-US" dirty="0" smtClean="0">
                <a:solidFill>
                  <a:schemeClr val="tx1"/>
                </a:solidFill>
              </a:rPr>
              <a:t>"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mkdir</a:t>
            </a:r>
            <a:r>
              <a:rPr lang="en-US" dirty="0" smtClean="0">
                <a:solidFill>
                  <a:schemeClr val="tx1"/>
                </a:solidFill>
              </a:rPr>
              <a:t> "%</a:t>
            </a:r>
            <a:r>
              <a:rPr lang="en-US" dirty="0" err="1" smtClean="0">
                <a:solidFill>
                  <a:schemeClr val="tx1"/>
                </a:solidFill>
              </a:rPr>
              <a:t>CommonProgramFiles</a:t>
            </a:r>
            <a:r>
              <a:rPr lang="en-US" dirty="0" smtClean="0">
                <a:solidFill>
                  <a:schemeClr val="tx1"/>
                </a:solidFill>
              </a:rPr>
              <a:t>%\Microsoft Shared\web server extensions\12\TEMPLATE\FEATURES\</a:t>
            </a:r>
            <a:r>
              <a:rPr lang="en-US" dirty="0" err="1" smtClean="0">
                <a:solidFill>
                  <a:schemeClr val="tx1"/>
                </a:solidFill>
              </a:rPr>
              <a:t>YourFeature</a:t>
            </a:r>
            <a:r>
              <a:rPr lang="en-US" dirty="0" smtClean="0">
                <a:solidFill>
                  <a:schemeClr val="tx1"/>
                </a:solidFill>
              </a:rPr>
              <a:t>"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copy /Y feature.xml  "%</a:t>
            </a:r>
            <a:r>
              <a:rPr lang="en-US" dirty="0" err="1" smtClean="0">
                <a:solidFill>
                  <a:schemeClr val="tx1"/>
                </a:solidFill>
              </a:rPr>
              <a:t>CommonProgramFiles</a:t>
            </a:r>
            <a:r>
              <a:rPr lang="en-US" dirty="0" smtClean="0">
                <a:solidFill>
                  <a:schemeClr val="tx1"/>
                </a:solidFill>
              </a:rPr>
              <a:t>%\Microsoft Shared\web server extensions\12\TEMPLATE\FEATURES\</a:t>
            </a:r>
            <a:r>
              <a:rPr lang="en-US" dirty="0" err="1" smtClean="0">
                <a:solidFill>
                  <a:schemeClr val="tx1"/>
                </a:solidFill>
              </a:rPr>
              <a:t>YourFeature</a:t>
            </a:r>
            <a:r>
              <a:rPr lang="en-US" dirty="0" smtClean="0">
                <a:solidFill>
                  <a:schemeClr val="tx1"/>
                </a:solidFill>
              </a:rPr>
              <a:t>\"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copy /Y elements.xml "%</a:t>
            </a:r>
            <a:r>
              <a:rPr lang="en-US" dirty="0" err="1" smtClean="0">
                <a:solidFill>
                  <a:schemeClr val="tx1"/>
                </a:solidFill>
              </a:rPr>
              <a:t>CommonProgramFiles</a:t>
            </a:r>
            <a:r>
              <a:rPr lang="en-US" dirty="0" smtClean="0">
                <a:solidFill>
                  <a:schemeClr val="tx1"/>
                </a:solidFill>
              </a:rPr>
              <a:t>%\Microsoft Shared\web server extensions\12\TEMPLATE\FEATURES\</a:t>
            </a:r>
            <a:r>
              <a:rPr lang="en-US" dirty="0" err="1" smtClean="0">
                <a:solidFill>
                  <a:schemeClr val="tx1"/>
                </a:solidFill>
              </a:rPr>
              <a:t>YourFeature</a:t>
            </a:r>
            <a:r>
              <a:rPr lang="en-US" dirty="0" smtClean="0">
                <a:solidFill>
                  <a:schemeClr val="tx1"/>
                </a:solidFill>
              </a:rPr>
              <a:t>\"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endParaRPr lang="de-AT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 smtClean="0"/>
              <a:t>Deploying a Feature using a Batch 2/2</a:t>
            </a:r>
            <a:endParaRPr lang="de-A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AT" sz="2400" dirty="0" smtClean="0"/>
              <a:t>Deploy Assemblies to GAC</a:t>
            </a:r>
          </a:p>
          <a:p>
            <a:r>
              <a:rPr lang="de-AT" sz="2400" dirty="0" smtClean="0"/>
              <a:t>Reset IIS after deployment</a:t>
            </a:r>
            <a:endParaRPr lang="de-AT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2786058"/>
            <a:ext cx="7929618" cy="328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echo Adding assemblies to the GAC...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echo.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"%programfiles%\ Microsoft Visual Studio 8\VC\gacutil.exe" -uf YourAssembly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"%programfiles%\ Microsoft Visual Studio 8\VC\gacutil.exe" -if bin\Debug\ YourAssembly.dll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echo Resetting IIS to avoid Caching conflicts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echo.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popd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iisreset</a:t>
            </a:r>
          </a:p>
          <a:p>
            <a:endParaRPr lang="de-AT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AT" sz="3600" dirty="0" smtClean="0"/>
              <a:t>Administring Feature with STSADM</a:t>
            </a:r>
            <a:endParaRPr lang="de-A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de-AT" sz="3200" dirty="0" smtClean="0"/>
              <a:t>stsadm -o installfeature –name SmartFeature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stsadm -o activatefeature –name samplepackage </a:t>
            </a:r>
            <a:r>
              <a:rPr lang="de-AT" sz="3200" dirty="0" smtClean="0"/>
              <a:t>-url http://server1 –immediate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stsadm -o deactivatefeature –name SmartFeature </a:t>
            </a:r>
            <a:r>
              <a:rPr lang="de-AT" sz="3200" dirty="0" smtClean="0"/>
              <a:t>-url http://server1 –immediate</a:t>
            </a:r>
          </a:p>
          <a:p>
            <a:pPr>
              <a:lnSpc>
                <a:spcPct val="150000"/>
              </a:lnSpc>
            </a:pPr>
            <a:r>
              <a:rPr lang="de-AT" sz="3200" dirty="0" smtClean="0"/>
              <a:t>stsadm -o uninstallfeature –name SmartFeature</a:t>
            </a:r>
          </a:p>
          <a:p>
            <a:endParaRPr lang="de-AT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Activating Features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Features can be activated at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Farm,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SiteCollection, or 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Site Level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Activation can be performed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Manually,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Using stsadm,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Using the Object Model</a:t>
            </a:r>
          </a:p>
          <a:p>
            <a:pPr lvl="1"/>
            <a:endParaRPr lang="de-AT" dirty="0" smtClean="0"/>
          </a:p>
          <a:p>
            <a:pPr lvl="1"/>
            <a:endParaRPr lang="de-A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Implementing and Deploying a simple Feature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 smtClean="0"/>
              <a:t>What are SharePoint Solutions?</a:t>
            </a:r>
            <a:endParaRPr lang="de-AT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SharePoint Solutions</a:t>
            </a:r>
            <a:endParaRPr lang="en-US" dirty="0"/>
          </a:p>
        </p:txBody>
      </p:sp>
      <p:sp>
        <p:nvSpPr>
          <p:cNvPr id="27654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 Solution is a set of Features used together and are typically related to each other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A Solution is a unit of deployment with automatic registration of its components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Solutions can </a:t>
            </a:r>
            <a:r>
              <a:rPr lang="en-US" smtClean="0"/>
              <a:t>be updated and </a:t>
            </a:r>
            <a:r>
              <a:rPr lang="en-US" dirty="0" smtClean="0"/>
              <a:t>deployment can </a:t>
            </a:r>
            <a:r>
              <a:rPr lang="en-US" smtClean="0"/>
              <a:t>be scheduled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32097"/>
          <p:cNvSpPr>
            <a:spLocks noGrp="1" noChangeArrowheads="1"/>
          </p:cNvSpPr>
          <p:nvPr>
            <p:ph type="title" idx="4294967295"/>
          </p:nvPr>
        </p:nvSpPr>
        <p:spPr>
          <a:xfrm>
            <a:off x="763588" y="228600"/>
            <a:ext cx="8380412" cy="585788"/>
          </a:xfrm>
        </p:spPr>
        <p:txBody>
          <a:bodyPr>
            <a:noAutofit/>
          </a:bodyPr>
          <a:lstStyle/>
          <a:p>
            <a:r>
              <a:rPr lang="en-US" sz="3600" dirty="0" smtClean="0"/>
              <a:t>SharePoint Solutions Architecture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000100" y="1857364"/>
            <a:ext cx="6480753" cy="4572032"/>
            <a:chOff x="298450" y="974725"/>
            <a:chExt cx="7642225" cy="5496268"/>
          </a:xfrm>
        </p:grpSpPr>
        <p:sp>
          <p:nvSpPr>
            <p:cNvPr id="132101" name="Rounded Rectangle 132100"/>
            <p:cNvSpPr>
              <a:spLocks noChangeArrowheads="1"/>
            </p:cNvSpPr>
            <p:nvPr/>
          </p:nvSpPr>
          <p:spPr bwMode="auto">
            <a:xfrm>
              <a:off x="298450" y="1035050"/>
              <a:ext cx="3452812" cy="5435943"/>
            </a:xfrm>
            <a:prstGeom prst="roundRect">
              <a:avLst>
                <a:gd name="adj" fmla="val 16667"/>
              </a:avLst>
            </a:prstGeom>
            <a:ln w="6350">
              <a:solidFill>
                <a:schemeClr val="bg1"/>
              </a:solidFill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pPr eaLnBrk="0" hangingPunct="0"/>
              <a:r>
                <a:rPr lang="en-US" b="1" dirty="0" smtClean="0">
                  <a:solidFill>
                    <a:schemeClr val="bg1"/>
                  </a:solidFill>
                  <a:effectLst/>
                  <a:latin typeface="Segoe Semibold" pitchFamily="34" charset="0"/>
                </a:rPr>
                <a:t>SampleSolution.wsp</a:t>
              </a:r>
              <a:endParaRPr lang="en-US" sz="1800" b="1" dirty="0">
                <a:solidFill>
                  <a:schemeClr val="bg1"/>
                </a:solidFill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  <a:p>
              <a:pPr eaLnBrk="0" hangingPunct="0"/>
              <a:endParaRPr lang="en-US" sz="1800" b="1" dirty="0">
                <a:effectLst/>
                <a:latin typeface="Segoe Semibold" pitchFamily="34" charset="0"/>
              </a:endParaRPr>
            </a:p>
          </p:txBody>
        </p:sp>
        <p:sp>
          <p:nvSpPr>
            <p:cNvPr id="132102" name="Rectangle 132101"/>
            <p:cNvSpPr>
              <a:spLocks noChangeArrowheads="1"/>
            </p:cNvSpPr>
            <p:nvPr/>
          </p:nvSpPr>
          <p:spPr bwMode="invGray">
            <a:xfrm>
              <a:off x="512764" y="1833517"/>
              <a:ext cx="3017838" cy="342900"/>
            </a:xfrm>
            <a:prstGeom prst="rect">
              <a:avLst/>
            </a:prstGeom>
            <a:ln w="6350">
              <a:solidFill>
                <a:schemeClr val="bg1"/>
              </a:solidFill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en-US" sz="2000" dirty="0" smtClean="0">
                  <a:effectLst/>
                  <a:latin typeface="Segoe Semibold" pitchFamily="34" charset="0"/>
                </a:rPr>
                <a:t>Elements </a:t>
              </a:r>
              <a:r>
                <a:rPr lang="en-US" sz="2000" dirty="0">
                  <a:effectLst/>
                  <a:latin typeface="Segoe Semibold" pitchFamily="34" charset="0"/>
                </a:rPr>
                <a:t>Manifests</a:t>
              </a:r>
            </a:p>
          </p:txBody>
        </p:sp>
        <p:sp>
          <p:nvSpPr>
            <p:cNvPr id="132103" name="Can 132102"/>
            <p:cNvSpPr>
              <a:spLocks noChangeArrowheads="1"/>
            </p:cNvSpPr>
            <p:nvPr/>
          </p:nvSpPr>
          <p:spPr bwMode="ltGray">
            <a:xfrm>
              <a:off x="6645275" y="974725"/>
              <a:ext cx="1295400" cy="1676400"/>
            </a:xfrm>
            <a:prstGeom prst="can">
              <a:avLst>
                <a:gd name="adj" fmla="val 32353"/>
              </a:avLst>
            </a:prstGeom>
            <a:solidFill>
              <a:srgbClr val="92D050">
                <a:alpha val="30000"/>
              </a:srgbClr>
            </a:solidFill>
            <a:ln w="6350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1400" dirty="0">
                <a:effectLst/>
                <a:latin typeface="Segoe Semibold" pitchFamily="34" charset="0"/>
              </a:endParaRPr>
            </a:p>
          </p:txBody>
        </p:sp>
        <p:sp>
          <p:nvSpPr>
            <p:cNvPr id="132107" name="TextBox 132106"/>
            <p:cNvSpPr txBox="1">
              <a:spLocks noChangeArrowheads="1"/>
            </p:cNvSpPr>
            <p:nvPr/>
          </p:nvSpPr>
          <p:spPr bwMode="auto">
            <a:xfrm>
              <a:off x="4257778" y="2005275"/>
              <a:ext cx="1853303" cy="406993"/>
            </a:xfrm>
            <a:prstGeom prst="rect">
              <a:avLst/>
            </a:prstGeom>
            <a:noFill/>
            <a:ln w="63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50000"/>
                </a:spcBef>
                <a:buClr>
                  <a:schemeClr val="tx2"/>
                </a:buClr>
                <a:buFont typeface="Wingdings 2" pitchFamily="18" charset="2"/>
                <a:buNone/>
              </a:pPr>
              <a:r>
                <a:rPr lang="en-US" sz="1600" dirty="0" smtClean="0">
                  <a:solidFill>
                    <a:schemeClr val="bg1"/>
                  </a:solidFill>
                  <a:effectLst/>
                  <a:latin typeface="Segoe Semibold" pitchFamily="34" charset="0"/>
                </a:rPr>
                <a:t>add / delete</a:t>
              </a:r>
              <a:endParaRPr lang="en-US" sz="1600" dirty="0">
                <a:solidFill>
                  <a:schemeClr val="bg1"/>
                </a:solidFill>
                <a:effectLst/>
                <a:latin typeface="Segoe Semibold" pitchFamily="34" charset="0"/>
              </a:endParaRPr>
            </a:p>
          </p:txBody>
        </p:sp>
        <p:sp>
          <p:nvSpPr>
            <p:cNvPr id="132110" name="TextBox 132109"/>
            <p:cNvSpPr txBox="1">
              <a:spLocks noChangeArrowheads="1"/>
            </p:cNvSpPr>
            <p:nvPr/>
          </p:nvSpPr>
          <p:spPr bwMode="auto">
            <a:xfrm>
              <a:off x="5689876" y="3293463"/>
              <a:ext cx="1279525" cy="702987"/>
            </a:xfrm>
            <a:prstGeom prst="rect">
              <a:avLst/>
            </a:prstGeom>
            <a:noFill/>
            <a:ln w="6350">
              <a:solidFill>
                <a:schemeClr val="bg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50000"/>
                </a:spcBef>
                <a:buClr>
                  <a:schemeClr val="tx2"/>
                </a:buClr>
                <a:buFont typeface="Wingdings 2" pitchFamily="18" charset="2"/>
                <a:buNone/>
              </a:pPr>
              <a:r>
                <a:rPr lang="en-US" sz="1600" dirty="0" smtClean="0">
                  <a:solidFill>
                    <a:schemeClr val="bg1"/>
                  </a:solidFill>
                  <a:effectLst/>
                  <a:latin typeface="Segoe Semibold" pitchFamily="34" charset="0"/>
                </a:rPr>
                <a:t>deploy / retract</a:t>
              </a:r>
              <a:endParaRPr lang="en-US" sz="1600" dirty="0">
                <a:solidFill>
                  <a:schemeClr val="bg1"/>
                </a:solidFill>
                <a:effectLst/>
                <a:latin typeface="Segoe Semibold" pitchFamily="34" charset="0"/>
              </a:endParaRPr>
            </a:p>
          </p:txBody>
        </p:sp>
        <p:sp>
          <p:nvSpPr>
            <p:cNvPr id="132115" name="Rectangle 132114"/>
            <p:cNvSpPr>
              <a:spLocks noChangeArrowheads="1"/>
            </p:cNvSpPr>
            <p:nvPr/>
          </p:nvSpPr>
          <p:spPr bwMode="invGray">
            <a:xfrm>
              <a:off x="521220" y="2606430"/>
              <a:ext cx="3017838" cy="342900"/>
            </a:xfrm>
            <a:prstGeom prst="rect">
              <a:avLst/>
            </a:prstGeom>
            <a:ln w="6350">
              <a:solidFill>
                <a:schemeClr val="bg1"/>
              </a:solidFill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en-US" sz="2000" dirty="0">
                  <a:effectLst/>
                  <a:latin typeface="Segoe Semibold" pitchFamily="34" charset="0"/>
                </a:rPr>
                <a:t>Template Files</a:t>
              </a:r>
            </a:p>
          </p:txBody>
        </p:sp>
        <p:sp>
          <p:nvSpPr>
            <p:cNvPr id="132116" name="Rectangle 132115"/>
            <p:cNvSpPr>
              <a:spLocks noChangeArrowheads="1"/>
            </p:cNvSpPr>
            <p:nvPr/>
          </p:nvSpPr>
          <p:spPr bwMode="invGray">
            <a:xfrm>
              <a:off x="531204" y="3005290"/>
              <a:ext cx="3017838" cy="342900"/>
            </a:xfrm>
            <a:prstGeom prst="rect">
              <a:avLst/>
            </a:prstGeom>
            <a:ln w="6350">
              <a:solidFill>
                <a:schemeClr val="bg1"/>
              </a:solidFill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en-US" sz="2000" dirty="0">
                  <a:effectLst/>
                  <a:latin typeface="Segoe Semibold" pitchFamily="34" charset="0"/>
                </a:rPr>
                <a:t>Assemblies</a:t>
              </a:r>
            </a:p>
          </p:txBody>
        </p:sp>
        <p:sp>
          <p:nvSpPr>
            <p:cNvPr id="132117" name="Straight Connector 132116"/>
            <p:cNvSpPr>
              <a:spLocks noChangeShapeType="1"/>
            </p:cNvSpPr>
            <p:nvPr/>
          </p:nvSpPr>
          <p:spPr bwMode="auto">
            <a:xfrm>
              <a:off x="4076700" y="1803400"/>
              <a:ext cx="2374900" cy="0"/>
            </a:xfrm>
            <a:prstGeom prst="line">
              <a:avLst/>
            </a:prstGeom>
            <a:ln w="6350">
              <a:solidFill>
                <a:schemeClr val="bg1"/>
              </a:solidFill>
              <a:headEnd/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de-AT"/>
            </a:p>
          </p:txBody>
        </p:sp>
        <p:sp>
          <p:nvSpPr>
            <p:cNvPr id="132118" name="Straight Connector 132117"/>
            <p:cNvSpPr>
              <a:spLocks noChangeShapeType="1"/>
            </p:cNvSpPr>
            <p:nvPr/>
          </p:nvSpPr>
          <p:spPr bwMode="auto">
            <a:xfrm>
              <a:off x="7121973" y="2864067"/>
              <a:ext cx="0" cy="1536700"/>
            </a:xfrm>
            <a:prstGeom prst="line">
              <a:avLst/>
            </a:prstGeom>
            <a:ln w="6350">
              <a:solidFill>
                <a:schemeClr val="bg1"/>
              </a:solidFill>
              <a:headEnd/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de-AT"/>
            </a:p>
          </p:txBody>
        </p:sp>
      </p:grp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500826" y="4857760"/>
          <a:ext cx="1000132" cy="1746837"/>
        </p:xfrm>
        <a:graphic>
          <a:graphicData uri="http://schemas.openxmlformats.org/presentationml/2006/ole">
            <p:oleObj spid="_x0000_s1026" name="Visio" r:id="rId4" imgW="702013" imgH="1225685" progId="">
              <p:embed/>
            </p:oleObj>
          </a:graphicData>
        </a:graphic>
      </p:graphicFrame>
      <p:cxnSp>
        <p:nvCxnSpPr>
          <p:cNvPr id="26" name="Straight Arrow Connector 25"/>
          <p:cNvCxnSpPr/>
          <p:nvPr/>
        </p:nvCxnSpPr>
        <p:spPr>
          <a:xfrm rot="5400000" flipH="1" flipV="1">
            <a:off x="6465901" y="4035429"/>
            <a:ext cx="1214446" cy="1588"/>
          </a:xfrm>
          <a:prstGeom prst="straightConnector1">
            <a:avLst/>
          </a:prstGeom>
          <a:ln w="6350">
            <a:solidFill>
              <a:schemeClr val="bg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49074" y="4000504"/>
            <a:ext cx="1737042" cy="2190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>
            <a:spLocks noChangeArrowheads="1"/>
          </p:cNvSpPr>
          <p:nvPr/>
        </p:nvSpPr>
        <p:spPr bwMode="invGray">
          <a:xfrm>
            <a:off x="1185311" y="2891364"/>
            <a:ext cx="2559184" cy="285239"/>
          </a:xfrm>
          <a:prstGeom prst="rect">
            <a:avLst/>
          </a:prstGeom>
          <a:ln w="6350">
            <a:solidFill>
              <a:schemeClr val="bg1"/>
            </a:solidFill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sz="2000" dirty="0" smtClean="0">
                <a:effectLst/>
                <a:latin typeface="Segoe Semibold" pitchFamily="34" charset="0"/>
              </a:rPr>
              <a:t>Features</a:t>
            </a:r>
            <a:endParaRPr lang="en-US" sz="2000" dirty="0">
              <a:effectLst/>
              <a:latin typeface="Segoe Semibold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Manifest.xml</a:t>
            </a:r>
            <a:endParaRPr lang="de-AT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AT" sz="2800" dirty="0" smtClean="0"/>
              <a:t>Solutions are defined in manifest.xml</a:t>
            </a:r>
          </a:p>
          <a:p>
            <a:r>
              <a:rPr lang="de-AT" sz="2800" dirty="0" smtClean="0"/>
              <a:t>FeaturesMainfests defines the features included</a:t>
            </a:r>
            <a:endParaRPr lang="de-AT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714348" y="2928934"/>
            <a:ext cx="7929618" cy="2857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&lt;?xml version="1.0" encoding="utf-8" ?&gt;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&lt;Solution SolutionID=„...„ 	</a:t>
            </a:r>
            <a:r>
              <a:rPr lang="en-US" dirty="0" err="1" smtClean="0">
                <a:solidFill>
                  <a:schemeClr val="tx1"/>
                </a:solidFill>
              </a:rPr>
              <a:t>xmlns</a:t>
            </a:r>
            <a:r>
              <a:rPr lang="en-US" dirty="0" smtClean="0">
                <a:solidFill>
                  <a:schemeClr val="tx1"/>
                </a:solidFill>
              </a:rPr>
              <a:t>="http://schemas.microsoft.com/SharePoint/" 	</a:t>
            </a:r>
            <a:r>
              <a:rPr lang="en-US" dirty="0" err="1" smtClean="0">
                <a:solidFill>
                  <a:schemeClr val="tx1"/>
                </a:solidFill>
              </a:rPr>
              <a:t>DeploymentServerType</a:t>
            </a:r>
            <a:r>
              <a:rPr lang="en-US" dirty="0" smtClean="0">
                <a:solidFill>
                  <a:schemeClr val="tx1"/>
                </a:solidFill>
              </a:rPr>
              <a:t>="</a:t>
            </a:r>
            <a:r>
              <a:rPr lang="en-US" dirty="0" err="1" smtClean="0">
                <a:solidFill>
                  <a:schemeClr val="tx1"/>
                </a:solidFill>
              </a:rPr>
              <a:t>WebFrontEnd</a:t>
            </a:r>
            <a:r>
              <a:rPr lang="en-US" dirty="0" smtClean="0">
                <a:solidFill>
                  <a:schemeClr val="tx1"/>
                </a:solidFill>
              </a:rPr>
              <a:t>"&gt;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&lt;FeatureManifests&gt;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&lt;FeatureManifest Location="FavoritesList\feature.xml"/&gt;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&lt;FeatureManifest Location="FavoritesSettings\feature.xml"/&gt;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&lt;/FeatureManifests&gt; 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&lt;/Solution&gt;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Additional Sections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smtClean="0"/>
              <a:t>Manifest.xml can contain additional sections</a:t>
            </a:r>
          </a:p>
          <a:p>
            <a:pPr lvl="1">
              <a:lnSpc>
                <a:spcPct val="150000"/>
              </a:lnSpc>
            </a:pPr>
            <a:r>
              <a:rPr lang="de-DE" dirty="0" smtClean="0"/>
              <a:t>Assemblies, Safe Controls</a:t>
            </a:r>
          </a:p>
          <a:p>
            <a:pPr lvl="1">
              <a:lnSpc>
                <a:spcPct val="150000"/>
              </a:lnSpc>
            </a:pPr>
            <a:r>
              <a:rPr lang="de-DE" dirty="0" smtClean="0"/>
              <a:t>ApplicationRessourceFiles, Ressources</a:t>
            </a:r>
          </a:p>
          <a:p>
            <a:pPr lvl="1">
              <a:lnSpc>
                <a:spcPct val="150000"/>
              </a:lnSpc>
            </a:pPr>
            <a:r>
              <a:rPr lang="de-DE" dirty="0" smtClean="0"/>
              <a:t>Code AccessSecurity, PermissionSet</a:t>
            </a:r>
          </a:p>
          <a:p>
            <a:pPr lvl="1">
              <a:lnSpc>
                <a:spcPct val="150000"/>
              </a:lnSpc>
            </a:pPr>
            <a:r>
              <a:rPr lang="de-DE" dirty="0" smtClean="0"/>
              <a:t>SiteDefinitionManifests, TemplateFiles</a:t>
            </a:r>
          </a:p>
          <a:p>
            <a:pPr lvl="1"/>
            <a:endParaRPr lang="de-DE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Assemblies, SafeControls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 smtClean="0"/>
              <a:t>Assemblies deployed with you Solution must be declared in the Manifest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14348" y="2857496"/>
            <a:ext cx="7929618" cy="3286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&lt;Assemblies&gt;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&lt;Assembly </a:t>
            </a:r>
            <a:r>
              <a:rPr lang="en-US" dirty="0" err="1" smtClean="0">
                <a:solidFill>
                  <a:schemeClr val="tx1"/>
                </a:solidFill>
              </a:rPr>
              <a:t>DeploymentTarget</a:t>
            </a:r>
            <a:r>
              <a:rPr lang="en-US" dirty="0" smtClean="0">
                <a:solidFill>
                  <a:schemeClr val="tx1"/>
                </a:solidFill>
              </a:rPr>
              <a:t>="</a:t>
            </a:r>
            <a:r>
              <a:rPr lang="en-US" dirty="0" err="1" smtClean="0">
                <a:solidFill>
                  <a:schemeClr val="tx1"/>
                </a:solidFill>
              </a:rPr>
              <a:t>WebApplication</a:t>
            </a:r>
            <a:r>
              <a:rPr lang="en-US" dirty="0" smtClean="0">
                <a:solidFill>
                  <a:schemeClr val="tx1"/>
                </a:solidFill>
              </a:rPr>
              <a:t>" Location=“MyDLL.dll"&gt;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&lt;</a:t>
            </a:r>
            <a:r>
              <a:rPr lang="en-US" dirty="0" err="1" smtClean="0">
                <a:solidFill>
                  <a:schemeClr val="tx1"/>
                </a:solidFill>
              </a:rPr>
              <a:t>SafeControls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&lt;</a:t>
            </a:r>
            <a:r>
              <a:rPr lang="en-US" dirty="0" err="1" smtClean="0">
                <a:solidFill>
                  <a:schemeClr val="tx1"/>
                </a:solidFill>
              </a:rPr>
              <a:t>SafeControl</a:t>
            </a:r>
            <a:endParaRPr lang="en-US" dirty="0" smtClean="0">
              <a:solidFill>
                <a:schemeClr val="tx1"/>
              </a:solidFill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Assembly=“</a:t>
            </a:r>
            <a:r>
              <a:rPr lang="en-US" dirty="0" err="1" smtClean="0">
                <a:solidFill>
                  <a:schemeClr val="tx1"/>
                </a:solidFill>
              </a:rPr>
              <a:t>MyDLL</a:t>
            </a:r>
            <a:r>
              <a:rPr lang="en-US" dirty="0" smtClean="0">
                <a:solidFill>
                  <a:schemeClr val="tx1"/>
                </a:solidFill>
              </a:rPr>
              <a:t>, Version=1.0.0.0, Culture=neutral,</a:t>
            </a:r>
          </a:p>
          <a:p>
            <a:pPr lvl="2"/>
            <a:r>
              <a:rPr lang="en-US" dirty="0" err="1" smtClean="0">
                <a:solidFill>
                  <a:schemeClr val="tx1"/>
                </a:solidFill>
              </a:rPr>
              <a:t>PublicKeyToken</a:t>
            </a:r>
            <a:r>
              <a:rPr lang="en-US" dirty="0" smtClean="0">
                <a:solidFill>
                  <a:schemeClr val="tx1"/>
                </a:solidFill>
              </a:rPr>
              <a:t>=685f1a0ba393acce"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Namespace=“Integrations“" </a:t>
            </a:r>
            <a:r>
              <a:rPr lang="en-US" dirty="0" err="1" smtClean="0">
                <a:solidFill>
                  <a:schemeClr val="tx1"/>
                </a:solidFill>
              </a:rPr>
              <a:t>TypeName</a:t>
            </a:r>
            <a:r>
              <a:rPr lang="en-US" dirty="0" smtClean="0">
                <a:solidFill>
                  <a:schemeClr val="tx1"/>
                </a:solidFill>
              </a:rPr>
              <a:t>="*" Safe="True/&gt;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&lt;/</a:t>
            </a:r>
            <a:r>
              <a:rPr lang="en-US" dirty="0" err="1" smtClean="0">
                <a:solidFill>
                  <a:schemeClr val="tx1"/>
                </a:solidFill>
              </a:rPr>
              <a:t>SafeControls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&lt;/Assembly&gt;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&lt;/Assemblies&gt;</a:t>
            </a:r>
            <a:endParaRPr lang="de-DE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Deploying Solutions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Creating </a:t>
            </a:r>
            <a:r>
              <a:rPr lang="de-AT" smtClean="0"/>
              <a:t>a WSP Package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AT" sz="2400" dirty="0" smtClean="0"/>
              <a:t>Create your ddf and use MakeCAB.exe /f your.ddf</a:t>
            </a:r>
            <a:endParaRPr lang="de-AT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2214554"/>
            <a:ext cx="7929618" cy="3786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600" dirty="0" smtClean="0">
                <a:solidFill>
                  <a:schemeClr val="tx1"/>
                </a:solidFill>
              </a:rPr>
              <a:t>.OPTION Explicit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.Set CabinetNameTemplate=IEFavoritesManager.wsp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.Set DiskDirectoryTemplate=D:\FavoritesManager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.Set CompressionType=MSZIP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.Set UniqueFiles=Off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.Set Cabinet=On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manifest.xml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.Set DestinationDir=FavoritesList  </a:t>
            </a:r>
            <a:r>
              <a:rPr lang="en-US" sz="1600" dirty="0" smtClean="0">
                <a:solidFill>
                  <a:schemeClr val="tx1"/>
                </a:solidFill>
              </a:rPr>
              <a:t>; we want files be placed in </a:t>
            </a:r>
            <a:r>
              <a:rPr lang="en-US" sz="1600" dirty="0" err="1" smtClean="0">
                <a:solidFill>
                  <a:schemeClr val="tx1"/>
                </a:solidFill>
              </a:rPr>
              <a:t>FavoritesList</a:t>
            </a:r>
            <a:endParaRPr lang="en-US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Features\FavoritesList\Feature.xml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Features\FavoritesList\Elements.xml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Features\FavoritesList\AllItems.aspx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...</a:t>
            </a:r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 smtClean="0"/>
              <a:t>Solution Deployment with STSADM</a:t>
            </a:r>
            <a:endParaRPr lang="de-A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AT" sz="2400" dirty="0" smtClean="0"/>
              <a:t>stsadm -o addsolution –filename samplepackage.wsp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stsadm -o </a:t>
            </a:r>
            <a:r>
              <a:rPr lang="en-US" sz="2400" dirty="0" err="1" smtClean="0"/>
              <a:t>deploysolution</a:t>
            </a:r>
            <a:r>
              <a:rPr lang="en-US" sz="2400" dirty="0" smtClean="0"/>
              <a:t> –name samplepackage </a:t>
            </a:r>
            <a:r>
              <a:rPr lang="de-AT" sz="2400" dirty="0" smtClean="0"/>
              <a:t>-url http://server1 –immediate</a:t>
            </a:r>
          </a:p>
          <a:p>
            <a:pPr>
              <a:lnSpc>
                <a:spcPct val="150000"/>
              </a:lnSpc>
            </a:pPr>
            <a:r>
              <a:rPr lang="de-AT" sz="2400" dirty="0" smtClean="0"/>
              <a:t>stsadm -o enumsolutions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stsadm -o </a:t>
            </a:r>
            <a:r>
              <a:rPr lang="en-US" sz="2400" dirty="0" err="1" smtClean="0"/>
              <a:t>retractsolution</a:t>
            </a:r>
            <a:r>
              <a:rPr lang="en-US" sz="2400" dirty="0" smtClean="0"/>
              <a:t> –filename samplepackage </a:t>
            </a:r>
            <a:r>
              <a:rPr lang="de-AT" sz="2400" dirty="0" smtClean="0"/>
              <a:t>-url http://server1 -immediate</a:t>
            </a:r>
          </a:p>
          <a:p>
            <a:pPr>
              <a:lnSpc>
                <a:spcPct val="150000"/>
              </a:lnSpc>
            </a:pPr>
            <a:r>
              <a:rPr lang="de-AT" sz="2400" dirty="0" smtClean="0"/>
              <a:t>stsadm -o deletesolution –filename samplepackage</a:t>
            </a:r>
            <a:endParaRPr lang="de-AT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Deployment UI</a:t>
            </a:r>
          </a:p>
        </p:txBody>
      </p:sp>
      <p:pic>
        <p:nvPicPr>
          <p:cNvPr id="29698" name="Rectangle 2969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1857364"/>
            <a:ext cx="5143536" cy="4772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AT" sz="2800" dirty="0" smtClean="0"/>
              <a:t>Managing Solutions using the Object Model</a:t>
            </a:r>
            <a:endParaRPr lang="de-AT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Microsoft.SharePoint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de-AT" sz="2800" dirty="0" smtClean="0"/>
          </a:p>
          <a:p>
            <a:pPr>
              <a:buNone/>
            </a:pPr>
            <a:r>
              <a:rPr lang="de-AT" sz="2800" dirty="0" smtClean="0"/>
              <a:t>Objects for Solution Management are defined in Microsoft.SharePoint.Administration</a:t>
            </a:r>
            <a:endParaRPr lang="de-AT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3286124"/>
          <a:ext cx="771530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16"/>
                <a:gridCol w="5429288"/>
              </a:tblGrid>
              <a:tr h="142876">
                <a:tc>
                  <a:txBody>
                    <a:bodyPr/>
                    <a:lstStyle/>
                    <a:p>
                      <a:r>
                        <a:rPr lang="de-AT" dirty="0" smtClean="0"/>
                        <a:t>Class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205744">
                <a:tc>
                  <a:txBody>
                    <a:bodyPr/>
                    <a:lstStyle/>
                    <a:p>
                      <a:r>
                        <a:rPr lang="de-AT" dirty="0" smtClean="0"/>
                        <a:t>SPSolution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 a SharePoint Solution</a:t>
                      </a:r>
                      <a:endParaRPr lang="de-AT" dirty="0"/>
                    </a:p>
                  </a:txBody>
                  <a:tcPr/>
                </a:tc>
              </a:tr>
              <a:tr h="3400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SPFeatureDefinition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Represents a SharePoint Feature Definition</a:t>
                      </a:r>
                    </a:p>
                  </a:txBody>
                  <a:tcPr/>
                </a:tc>
              </a:tr>
              <a:tr h="1171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SPFarm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Represents a SharePoint Farm</a:t>
                      </a:r>
                    </a:p>
                  </a:txBody>
                  <a:tcPr/>
                </a:tc>
              </a:tr>
              <a:tr h="257177">
                <a:tc>
                  <a:txBody>
                    <a:bodyPr/>
                    <a:lstStyle/>
                    <a:p>
                      <a:r>
                        <a:rPr lang="de-AT" dirty="0" smtClean="0"/>
                        <a:t>SPWebApplication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 a Web Application hosting Site Collections</a:t>
                      </a:r>
                      <a:endParaRPr lang="de-AT" dirty="0"/>
                    </a:p>
                  </a:txBody>
                  <a:tcPr/>
                </a:tc>
              </a:tr>
              <a:tr h="257177">
                <a:tc>
                  <a:txBody>
                    <a:bodyPr/>
                    <a:lstStyle/>
                    <a:p>
                      <a:r>
                        <a:rPr lang="de-AT" dirty="0" smtClean="0"/>
                        <a:t>SPServer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Adding Solutions.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de-AT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1857364"/>
            <a:ext cx="7929618" cy="40005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public void AddSolution(string WSPFullPath)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{  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if(File.Exists(WSPFullPath))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{ 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SPFarm farm = SPFarm.Local;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int i = WSPFullPath.LastIndexOf(@"\");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string solname = WSPFullPath.Substring(i + 1);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SPSolution sol = farm.Solutions[solname];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if (sol == null)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 { farm.Solutions.Add(WSPFullPath);}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}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}</a:t>
            </a:r>
          </a:p>
          <a:p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Deploying / Retracting Solutions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de-AT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714348" y="1857364"/>
            <a:ext cx="7929618" cy="40005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AT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public void </a:t>
            </a:r>
            <a:r>
              <a:rPr lang="en-US" sz="1400" dirty="0" err="1" smtClean="0">
                <a:solidFill>
                  <a:schemeClr val="tx1"/>
                </a:solidFill>
              </a:rPr>
              <a:t>DeploySolution</a:t>
            </a:r>
            <a:r>
              <a:rPr lang="en-US" sz="1400" dirty="0" smtClean="0">
                <a:solidFill>
                  <a:schemeClr val="tx1"/>
                </a:solidFill>
              </a:rPr>
              <a:t>(</a:t>
            </a:r>
            <a:r>
              <a:rPr lang="en-US" sz="1400" dirty="0" err="1" smtClean="0">
                <a:solidFill>
                  <a:schemeClr val="tx1"/>
                </a:solidFill>
              </a:rPr>
              <a:t>Guid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</a:rPr>
              <a:t>SolutionsGUID</a:t>
            </a:r>
            <a:r>
              <a:rPr lang="en-US" sz="1400" dirty="0" smtClean="0">
                <a:solidFill>
                  <a:schemeClr val="tx1"/>
                </a:solidFill>
              </a:rPr>
              <a:t>, string URL 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    farm = </a:t>
            </a:r>
            <a:r>
              <a:rPr lang="en-US" sz="1400" dirty="0" err="1" smtClean="0">
                <a:solidFill>
                  <a:schemeClr val="tx1"/>
                </a:solidFill>
              </a:rPr>
              <a:t>SPFarm.Local</a:t>
            </a:r>
            <a:r>
              <a:rPr lang="en-US" sz="14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    if (= </a:t>
            </a:r>
            <a:r>
              <a:rPr lang="en-US" sz="1400" dirty="0" err="1" smtClean="0">
                <a:solidFill>
                  <a:schemeClr val="tx1"/>
                </a:solidFill>
              </a:rPr>
              <a:t>farm.Solutions</a:t>
            </a:r>
            <a:r>
              <a:rPr lang="en-US" sz="1400" dirty="0" smtClean="0">
                <a:solidFill>
                  <a:schemeClr val="tx1"/>
                </a:solidFill>
              </a:rPr>
              <a:t>[</a:t>
            </a:r>
            <a:r>
              <a:rPr lang="en-US" sz="1400" dirty="0" err="1" smtClean="0">
                <a:solidFill>
                  <a:schemeClr val="tx1"/>
                </a:solidFill>
              </a:rPr>
              <a:t>SolutionsGUID</a:t>
            </a:r>
            <a:r>
              <a:rPr lang="en-US" sz="1400" dirty="0" smtClean="0">
                <a:solidFill>
                  <a:schemeClr val="tx1"/>
                </a:solidFill>
              </a:rPr>
              <a:t>]!=null)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    	{</a:t>
            </a:r>
            <a:r>
              <a:rPr lang="en-US" sz="1400" dirty="0" err="1" smtClean="0">
                <a:solidFill>
                  <a:schemeClr val="tx1"/>
                </a:solidFill>
              </a:rPr>
              <a:t>SPSolution</a:t>
            </a:r>
            <a:r>
              <a:rPr lang="en-US" sz="1400" dirty="0" smtClean="0">
                <a:solidFill>
                  <a:schemeClr val="tx1"/>
                </a:solidFill>
              </a:rPr>
              <a:t> sol = </a:t>
            </a:r>
            <a:r>
              <a:rPr lang="en-US" sz="1400" dirty="0" err="1" smtClean="0">
                <a:solidFill>
                  <a:schemeClr val="tx1"/>
                </a:solidFill>
              </a:rPr>
              <a:t>farm.Solutions</a:t>
            </a:r>
            <a:r>
              <a:rPr lang="en-US" sz="1400" dirty="0" smtClean="0">
                <a:solidFill>
                  <a:schemeClr val="tx1"/>
                </a:solidFill>
              </a:rPr>
              <a:t>[</a:t>
            </a:r>
            <a:r>
              <a:rPr lang="en-US" sz="1400" dirty="0" err="1" smtClean="0">
                <a:solidFill>
                  <a:schemeClr val="tx1"/>
                </a:solidFill>
              </a:rPr>
              <a:t>SolutionsGUID</a:t>
            </a:r>
            <a:r>
              <a:rPr lang="en-US" sz="1400" dirty="0" smtClean="0">
                <a:solidFill>
                  <a:schemeClr val="tx1"/>
                </a:solidFill>
              </a:rPr>
              <a:t>];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        </a:t>
            </a:r>
            <a:r>
              <a:rPr lang="en-US" sz="1400" dirty="0" err="1" smtClean="0">
                <a:solidFill>
                  <a:schemeClr val="tx1"/>
                </a:solidFill>
              </a:rPr>
              <a:t>sol.DeployedServers.Add</a:t>
            </a:r>
            <a:r>
              <a:rPr lang="en-US" sz="1400" dirty="0" smtClean="0">
                <a:solidFill>
                  <a:schemeClr val="tx1"/>
                </a:solidFill>
              </a:rPr>
              <a:t>(new </a:t>
            </a:r>
            <a:r>
              <a:rPr lang="en-US" sz="1400" dirty="0" err="1" smtClean="0">
                <a:solidFill>
                  <a:schemeClr val="tx1"/>
                </a:solidFill>
              </a:rPr>
              <a:t>SPServer</a:t>
            </a:r>
            <a:r>
              <a:rPr lang="en-US" sz="1400" dirty="0" smtClean="0">
                <a:solidFill>
                  <a:schemeClr val="tx1"/>
                </a:solidFill>
              </a:rPr>
              <a:t>("</a:t>
            </a:r>
            <a:r>
              <a:rPr lang="en-US" sz="1400" dirty="0" err="1" smtClean="0">
                <a:solidFill>
                  <a:schemeClr val="tx1"/>
                </a:solidFill>
              </a:rPr>
              <a:t>SRVAddress</a:t>
            </a:r>
            <a:r>
              <a:rPr lang="en-US" sz="1400" dirty="0" smtClean="0">
                <a:solidFill>
                  <a:schemeClr val="tx1"/>
                </a:solidFill>
              </a:rPr>
              <a:t>"));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               </a:t>
            </a:r>
            <a:r>
              <a:rPr lang="en-US" sz="1400" dirty="0" err="1" smtClean="0">
                <a:solidFill>
                  <a:schemeClr val="tx1"/>
                </a:solidFill>
              </a:rPr>
              <a:t>sol.Deploy</a:t>
            </a:r>
            <a:r>
              <a:rPr lang="en-US" sz="1400" dirty="0" smtClean="0">
                <a:solidFill>
                  <a:schemeClr val="tx1"/>
                </a:solidFill>
              </a:rPr>
              <a:t>(</a:t>
            </a:r>
            <a:r>
              <a:rPr lang="en-US" sz="1400" dirty="0" err="1" smtClean="0">
                <a:solidFill>
                  <a:schemeClr val="tx1"/>
                </a:solidFill>
              </a:rPr>
              <a:t>DateTime.Now</a:t>
            </a:r>
            <a:r>
              <a:rPr lang="en-US" sz="1400" dirty="0" smtClean="0">
                <a:solidFill>
                  <a:schemeClr val="tx1"/>
                </a:solidFill>
              </a:rPr>
              <a:t>, true, true);}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endParaRPr lang="de-AT" sz="1400" dirty="0" smtClean="0">
              <a:solidFill>
                <a:schemeClr val="tx1"/>
              </a:solidFill>
            </a:endParaRPr>
          </a:p>
          <a:p>
            <a:r>
              <a:rPr lang="de-AT" sz="1400" dirty="0" smtClean="0">
                <a:solidFill>
                  <a:schemeClr val="tx1"/>
                </a:solidFill>
              </a:rPr>
              <a:t>public void RetractSolution(Guid ID)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   farm = SPFarm.Local;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   SPSolution sol = farm.Solutions[ID];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            sol.Retract(DateTime.Now);</a:t>
            </a:r>
          </a:p>
          <a:p>
            <a:r>
              <a:rPr lang="de-AT" sz="1400" dirty="0" smtClean="0">
                <a:solidFill>
                  <a:schemeClr val="tx1"/>
                </a:solidFill>
              </a:rPr>
              <a:t>}</a:t>
            </a:r>
            <a:endParaRPr lang="de-AT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357290" y="2743200"/>
            <a:ext cx="7137423" cy="1673225"/>
          </a:xfrm>
        </p:spPr>
        <p:txBody>
          <a:bodyPr>
            <a:normAutofit/>
          </a:bodyPr>
          <a:lstStyle/>
          <a:p>
            <a:r>
              <a:rPr lang="de-AT" sz="2400" b="1" dirty="0" smtClean="0"/>
              <a:t>ALEXANDER PAJER@INTEGRATIONS.AT</a:t>
            </a:r>
            <a:endParaRPr lang="de-AT" sz="2400" b="1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THANK YOU!!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tions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Font typeface="Arial" pitchFamily="34" charset="0"/>
          <a:buChar char="•"/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Folder" ma:contentTypeID="0x012000D97F050F13A0BA458AD23DA344BCDFAE" ma:contentTypeVersion="0" ma:contentTypeDescription="Create a new folder." ma:contentTypeScope="" ma:versionID="550c1da0f5d4b2f3c22470012683d4b5">
  <xsd:schema xmlns:xsd="http://www.w3.org/2001/XMLSchema" xmlns:p="http://schemas.microsoft.com/office/2006/metadata/properties" targetNamespace="http://schemas.microsoft.com/office/2006/metadata/properties" ma:root="true" ma:fieldsID="d275e67360629ab4e5a555c8847cde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C168F8D2-B117-4685-B314-6E16B8B9E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9E5C37-FA1D-4A42-829A-FC94B1537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CFFDFF7-5F17-4289-BB00-C806C2DDB0B9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126</TotalTime>
  <Words>1101</Words>
  <Application>Microsoft Office PowerPoint</Application>
  <PresentationFormat>On-screen Show (4:3)</PresentationFormat>
  <Paragraphs>282</Paragraphs>
  <Slides>39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Integrations</vt:lpstr>
      <vt:lpstr>Visio</vt:lpstr>
      <vt:lpstr>SharePoint 2007 Features And Solutions</vt:lpstr>
      <vt:lpstr>Agenda</vt:lpstr>
      <vt:lpstr> What are SharePoint Features?</vt:lpstr>
      <vt:lpstr>What are SharePoint Features?</vt:lpstr>
      <vt:lpstr>SharePoint Feature Types</vt:lpstr>
      <vt:lpstr>Feature Files</vt:lpstr>
      <vt:lpstr>Implementing Features</vt:lpstr>
      <vt:lpstr>Feature.xml</vt:lpstr>
      <vt:lpstr>Editing Features using VS</vt:lpstr>
      <vt:lpstr>Feature.xml Cont.</vt:lpstr>
      <vt:lpstr>Elements.xml</vt:lpstr>
      <vt:lpstr>Resource Files</vt:lpstr>
      <vt:lpstr>Resource Files Cont.</vt:lpstr>
      <vt:lpstr>Feature Scope</vt:lpstr>
      <vt:lpstr>Feature Dependency</vt:lpstr>
      <vt:lpstr>Feature Dependency</vt:lpstr>
      <vt:lpstr>Feature Deployment</vt:lpstr>
      <vt:lpstr>Deploying Features</vt:lpstr>
      <vt:lpstr>Security Requirements</vt:lpstr>
      <vt:lpstr>Deploying a Feature using a Batch 1/2</vt:lpstr>
      <vt:lpstr>Deploying a Feature using a Batch 2/2</vt:lpstr>
      <vt:lpstr>Administring Feature with STSADM</vt:lpstr>
      <vt:lpstr>Activating Features</vt:lpstr>
      <vt:lpstr>Demo</vt:lpstr>
      <vt:lpstr>What are SharePoint Solutions?</vt:lpstr>
      <vt:lpstr>SharePoint Solutions</vt:lpstr>
      <vt:lpstr>SharePoint Solutions Architecture</vt:lpstr>
      <vt:lpstr>Manifest.xml</vt:lpstr>
      <vt:lpstr>Additional Sections</vt:lpstr>
      <vt:lpstr>Assemblies, SafeControls</vt:lpstr>
      <vt:lpstr>Deploying Solutions</vt:lpstr>
      <vt:lpstr>Creating a WSP Package</vt:lpstr>
      <vt:lpstr>Solution Deployment with STSADM</vt:lpstr>
      <vt:lpstr>Solution Deployment UI</vt:lpstr>
      <vt:lpstr>Managing Solutions using the Object Model</vt:lpstr>
      <vt:lpstr>Microsoft.SharePoint</vt:lpstr>
      <vt:lpstr>Adding Solutions.</vt:lpstr>
      <vt:lpstr>Deploying / Retracting Solutions</vt:lpstr>
      <vt:lpstr>THANK YOU!!</vt:lpstr>
    </vt:vector>
  </TitlesOfParts>
  <Company>Integrations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2007 Components and Services</dc:title>
  <dc:creator>Alexander Pajer</dc:creator>
  <cp:lastModifiedBy>Training</cp:lastModifiedBy>
  <cp:revision>216</cp:revision>
  <dcterms:created xsi:type="dcterms:W3CDTF">2007-05-18T07:23:53Z</dcterms:created>
  <dcterms:modified xsi:type="dcterms:W3CDTF">2009-04-28T10:52:52Z</dcterms:modified>
  <cp:contentType>Folder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0x012000D97F050F13A0BA458AD23DA344BCDFAE</vt:lpwstr>
  </property>
</Properties>
</file>