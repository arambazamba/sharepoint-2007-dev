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</p:sldMasterIdLst>
  <p:sldIdLst>
    <p:sldId id="256" r:id="rId5"/>
    <p:sldId id="257" r:id="rId6"/>
    <p:sldId id="269" r:id="rId7"/>
    <p:sldId id="265" r:id="rId8"/>
    <p:sldId id="270" r:id="rId9"/>
    <p:sldId id="271" r:id="rId10"/>
    <p:sldId id="267" r:id="rId11"/>
    <p:sldId id="272" r:id="rId12"/>
    <p:sldId id="277" r:id="rId13"/>
    <p:sldId id="268" r:id="rId14"/>
    <p:sldId id="273" r:id="rId15"/>
    <p:sldId id="275" r:id="rId16"/>
    <p:sldId id="276" r:id="rId17"/>
    <p:sldId id="278" r:id="rId18"/>
    <p:sldId id="279" r:id="rId19"/>
    <p:sldId id="26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-11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472" y="228600"/>
            <a:ext cx="7000924" cy="990600"/>
          </a:xfrm>
        </p:spPr>
        <p:txBody>
          <a:bodyPr/>
          <a:lstStyle>
            <a:lvl1pPr>
              <a:defRPr/>
            </a:lvl1pPr>
          </a:lstStyle>
          <a:p>
            <a:r>
              <a:rPr kumimoji="0" lang="en-US" dirty="0" smtClean="0"/>
              <a:t>Agenda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</p:txBody>
      </p:sp>
      <p:pic>
        <p:nvPicPr>
          <p:cNvPr id="2051" name="Picture 3" descr="F:\IconExperience\all\all\128x128\plain\teache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4766" y="250575"/>
            <a:ext cx="928694" cy="928694"/>
          </a:xfrm>
          <a:prstGeom prst="rect">
            <a:avLst/>
          </a:prstGeom>
          <a:noFill/>
        </p:spPr>
      </p:pic>
      <p:pic>
        <p:nvPicPr>
          <p:cNvPr id="9" name="Picture 3" descr="F:\IconExperience\all\all\128x128\plain\teache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4766" y="250575"/>
            <a:ext cx="928694" cy="928694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7290" y="3357562"/>
            <a:ext cx="7123113" cy="2286016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14422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5860"/>
            <a:ext cx="1295400" cy="990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85860"/>
            <a:ext cx="7772400" cy="990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728" y="128586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F:\IconExperience\all\all\48x48\plain\book_blue_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617537" cy="617537"/>
          </a:xfrm>
          <a:prstGeom prst="rect">
            <a:avLst/>
          </a:prstGeom>
          <a:noFill/>
        </p:spPr>
      </p:pic>
      <p:pic>
        <p:nvPicPr>
          <p:cNvPr id="10" name="Picture 2" descr="F:\IconExperience\all\all\48x48\plain\book_blue_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617537" cy="617537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7290" y="2285992"/>
            <a:ext cx="7123113" cy="3500462"/>
          </a:xfrm>
        </p:spPr>
        <p:txBody>
          <a:bodyPr anchor="t"/>
          <a:lstStyle>
            <a:lvl1pPr marL="0" indent="0">
              <a:buFontTx/>
              <a:buBlip>
                <a:blip r:embed="rId2"/>
              </a:buBlip>
              <a:defRPr sz="2800">
                <a:solidFill>
                  <a:schemeClr val="bg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92867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009640"/>
            <a:ext cx="1295400" cy="990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000108"/>
            <a:ext cx="7772400" cy="990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2867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08107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9" name="Picture 3" descr="F:\IconExperience\all\all\48x48\plain\ste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142984"/>
            <a:ext cx="617538" cy="617538"/>
          </a:xfrm>
          <a:prstGeom prst="rect">
            <a:avLst/>
          </a:prstGeom>
          <a:noFill/>
        </p:spPr>
      </p:pic>
      <p:pic>
        <p:nvPicPr>
          <p:cNvPr id="11" name="Picture 3" descr="F:\IconExperience\all\all\48x48\plain\ste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142984"/>
            <a:ext cx="617538" cy="617538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solidFill>
            <a:srgbClr val="69657E"/>
          </a:solidFill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dirty="0" smtClean="0"/>
              <a:t>ALEXANDER.PAJER@INTEGRATIONS.AT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dirty="0" smtClean="0"/>
              <a:t>Thank You!!! </a:t>
            </a:r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pic>
        <p:nvPicPr>
          <p:cNvPr id="3074" name="Picture 2" descr="F:\IconExperience\all\all\128x128\plain\cu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1500174"/>
            <a:ext cx="1625600" cy="16256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noFill/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FontTx/>
              <a:buNone/>
              <a:defRPr kumimoji="0" lang="de-AT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3074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  <p:pic>
        <p:nvPicPr>
          <p:cNvPr id="5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rev="1">
        <p:tmplLst>
          <p:tmpl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Pattern with 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4214818"/>
            <a:ext cx="8143903" cy="2214578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42938" y="1714500"/>
            <a:ext cx="8143875" cy="11430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3096525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050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  <p:pic>
        <p:nvPicPr>
          <p:cNvPr id="7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  <p:pic>
        <p:nvPicPr>
          <p:cNvPr id="6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30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  <p:pic>
        <p:nvPicPr>
          <p:cNvPr id="5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dirty="0" smtClean="0"/>
              <a:t>ALEXANDER.PAJER@INTEGRATIONS.AT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dirty="0" smtClean="0"/>
              <a:t>Thank You!!! </a:t>
            </a:r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pic>
        <p:nvPicPr>
          <p:cNvPr id="3074" name="Picture 2" descr="F:\IconExperience\all\all\128x128\plain\cu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1500174"/>
            <a:ext cx="1625600" cy="16256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FontTx/>
              <a:buBlip>
                <a:blip r:embed="rId2"/>
              </a:buBlip>
              <a:defRPr kumimoji="0" lang="de-AT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 smtClean="0"/>
              <a:t>X</a:t>
            </a:r>
          </a:p>
          <a:p>
            <a:pPr lvl="0"/>
            <a:r>
              <a:rPr lang="de-AT" dirty="0" smtClean="0"/>
              <a:t>ccc</a:t>
            </a:r>
            <a:endParaRPr lang="de-AT" dirty="0"/>
          </a:p>
        </p:txBody>
      </p:sp>
      <p:pic>
        <p:nvPicPr>
          <p:cNvPr id="3074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de Pattern with 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4214818"/>
            <a:ext cx="8143903" cy="2214578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42938" y="1714500"/>
            <a:ext cx="8143875" cy="11430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3096525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050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30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A531573-7E56-46B8-92C7-4B061504DAB6}" type="datetimeFigureOut">
              <a:rPr lang="en-US" smtClean="0"/>
              <a:pPr/>
              <a:t>6/20/2008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4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Using SharePoint 2007 Excel Services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de-AT" smtClean="0"/>
              <a:t>(c) 2007Alexander </a:t>
            </a:r>
            <a:r>
              <a:rPr lang="de-AT" dirty="0" smtClean="0"/>
              <a:t>Pajer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AT" dirty="0" smtClean="0"/>
              <a:t>Excel Services Basics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Implementing Solutions using Excel Web Services</a:t>
            </a:r>
          </a:p>
          <a:p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Excel Services Basics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Excel Services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AT" sz="2800" dirty="0" smtClean="0"/>
              <a:t>Publishing of Excel-sheets, workbooks, privot-tables and charts</a:t>
            </a:r>
          </a:p>
          <a:p>
            <a:pPr>
              <a:lnSpc>
                <a:spcPct val="150000"/>
              </a:lnSpc>
            </a:pPr>
            <a:r>
              <a:rPr lang="de-AT" sz="2800" dirty="0" smtClean="0"/>
              <a:t>Excel Services as server-side calculation engine</a:t>
            </a:r>
          </a:p>
          <a:p>
            <a:pPr>
              <a:lnSpc>
                <a:spcPct val="150000"/>
              </a:lnSpc>
            </a:pPr>
            <a:r>
              <a:rPr lang="de-AT" sz="2800" dirty="0" smtClean="0"/>
              <a:t>Centralized Application logic</a:t>
            </a:r>
          </a:p>
          <a:p>
            <a:pPr>
              <a:lnSpc>
                <a:spcPct val="150000"/>
              </a:lnSpc>
            </a:pPr>
            <a:r>
              <a:rPr lang="de-AT" sz="2800" dirty="0" smtClean="0"/>
              <a:t>Access to external data ist easy</a:t>
            </a:r>
          </a:p>
          <a:p>
            <a:pPr>
              <a:lnSpc>
                <a:spcPct val="150000"/>
              </a:lnSpc>
            </a:pPr>
            <a:r>
              <a:rPr lang="de-AT" sz="2800" dirty="0" smtClean="0"/>
              <a:t>Excel Services is </a:t>
            </a:r>
            <a:r>
              <a:rPr lang="de-AT" sz="2800" u="sng" dirty="0" smtClean="0"/>
              <a:t>NOT</a:t>
            </a:r>
            <a:r>
              <a:rPr lang="de-AT" sz="2800" dirty="0" smtClean="0"/>
              <a:t> Excel on the 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Excel Services Architecture</a:t>
            </a:r>
            <a:endParaRPr lang="de-AT" dirty="0"/>
          </a:p>
        </p:txBody>
      </p:sp>
      <p:sp>
        <p:nvSpPr>
          <p:cNvPr id="5" name="Rounded Rectangle 4"/>
          <p:cNvSpPr/>
          <p:nvPr/>
        </p:nvSpPr>
        <p:spPr>
          <a:xfrm>
            <a:off x="928662" y="1857364"/>
            <a:ext cx="7286676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AT" b="1" dirty="0" smtClean="0">
                <a:solidFill>
                  <a:schemeClr val="tx1"/>
                </a:solidFill>
              </a:rPr>
              <a:t>Web Front-End</a:t>
            </a:r>
            <a:endParaRPr lang="de-AT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28662" y="3357562"/>
            <a:ext cx="7286676" cy="12858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AT" b="1" dirty="0" smtClean="0">
                <a:solidFill>
                  <a:schemeClr val="tx1"/>
                </a:solidFill>
              </a:rPr>
              <a:t>SharePoint Application Server</a:t>
            </a:r>
            <a:endParaRPr lang="de-AT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28662" y="5000636"/>
            <a:ext cx="7286676" cy="1071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AT" b="1" dirty="0" smtClean="0">
                <a:solidFill>
                  <a:schemeClr val="tx1"/>
                </a:solidFill>
              </a:rPr>
              <a:t>Data Tier</a:t>
            </a:r>
            <a:br>
              <a:rPr lang="de-AT" b="1" dirty="0" smtClean="0">
                <a:solidFill>
                  <a:schemeClr val="tx1"/>
                </a:solidFill>
              </a:rPr>
            </a:br>
            <a:endParaRPr lang="de-AT" b="1" dirty="0" smtClean="0">
              <a:solidFill>
                <a:schemeClr val="tx1"/>
              </a:solidFill>
            </a:endParaRPr>
          </a:p>
          <a:p>
            <a:pPr algn="ctr"/>
            <a:r>
              <a:rPr lang="de-AT" b="1" dirty="0" smtClean="0">
                <a:solidFill>
                  <a:schemeClr val="tx1"/>
                </a:solidFill>
              </a:rPr>
              <a:t>Stores Excel Workbooks, integrates external data</a:t>
            </a:r>
            <a:endParaRPr lang="de-AT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85852" y="2214554"/>
            <a:ext cx="2214578" cy="642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 smtClean="0">
                <a:solidFill>
                  <a:schemeClr val="tx1"/>
                </a:solidFill>
              </a:rPr>
              <a:t>Excel Web Access</a:t>
            </a:r>
            <a:endParaRPr lang="de-AT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43570" y="2214554"/>
            <a:ext cx="2214578" cy="642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 smtClean="0">
                <a:solidFill>
                  <a:schemeClr val="tx1"/>
                </a:solidFill>
              </a:rPr>
              <a:t>Excel Web Services</a:t>
            </a:r>
            <a:endParaRPr lang="de-AT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85852" y="3857628"/>
            <a:ext cx="2214578" cy="642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 smtClean="0">
                <a:solidFill>
                  <a:schemeClr val="tx1"/>
                </a:solidFill>
              </a:rPr>
              <a:t>Managed User-Defined Functions</a:t>
            </a:r>
            <a:endParaRPr lang="de-AT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43570" y="3857628"/>
            <a:ext cx="2214578" cy="642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 smtClean="0">
                <a:solidFill>
                  <a:schemeClr val="tx1"/>
                </a:solidFill>
              </a:rPr>
              <a:t>Excel Calculation Services</a:t>
            </a:r>
            <a:endParaRPr lang="de-AT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5" idx="2"/>
            <a:endCxn id="6" idx="0"/>
          </p:cNvCxnSpPr>
          <p:nvPr/>
        </p:nvCxnSpPr>
        <p:spPr>
          <a:xfrm rot="5400000">
            <a:off x="4393405" y="3178967"/>
            <a:ext cx="35719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3"/>
            <a:endCxn id="11" idx="1"/>
          </p:cNvCxnSpPr>
          <p:nvPr/>
        </p:nvCxnSpPr>
        <p:spPr>
          <a:xfrm>
            <a:off x="3500430" y="4179099"/>
            <a:ext cx="214314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3"/>
            <a:endCxn id="11" idx="1"/>
          </p:cNvCxnSpPr>
          <p:nvPr/>
        </p:nvCxnSpPr>
        <p:spPr>
          <a:xfrm>
            <a:off x="3500430" y="4179099"/>
            <a:ext cx="214314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0"/>
            <a:endCxn id="6" idx="2"/>
          </p:cNvCxnSpPr>
          <p:nvPr/>
        </p:nvCxnSpPr>
        <p:spPr>
          <a:xfrm rot="5400000" flipH="1" flipV="1">
            <a:off x="4393405" y="4822041"/>
            <a:ext cx="35719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Excel Web Access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AT" dirty="0" smtClean="0"/>
              <a:t>The main task of Excel Web Access (EWA) is to render workbooks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The degree of interactivits can be configured using the Shared Services Provider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Excel Web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Allows SharePoint to act as a centralized host for coorporate application logic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Application logic is easy to maintain for the professionals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Supports versioning through standard SharePoint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SharePoint Application Server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Excel Services can act as a host for Managed User-Defined-Functions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Excel Calculation Services allows centralized workbook management. Users work with shared versions of workbooks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Workbooks provide snapshots of back-end data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Deploying Excel Services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AT" dirty="0" smtClean="0"/>
              <a:t>SharePoint libraries have to be configured as Trusted Excel Location using SSP</a:t>
            </a:r>
          </a:p>
          <a:p>
            <a:r>
              <a:rPr lang="de-AT" dirty="0" smtClean="0"/>
              <a:t>Cells that act as parameters have to be implemented as named cells</a:t>
            </a:r>
          </a:p>
          <a:p>
            <a:endParaRPr lang="de-AT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0149" y="3786190"/>
            <a:ext cx="2146033" cy="2552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4071942"/>
            <a:ext cx="2781917" cy="1800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AT" dirty="0" smtClean="0"/>
              <a:t>Publishing Shared Excel Workbooks</a:t>
            </a:r>
          </a:p>
          <a:p>
            <a:r>
              <a:rPr lang="de-AT" dirty="0" smtClean="0"/>
              <a:t>Deploying centralized Excel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AT" sz="3600" dirty="0" smtClean="0"/>
              <a:t>Implementing Solutions using </a:t>
            </a:r>
            <a:br>
              <a:rPr lang="de-AT" sz="3600" dirty="0" smtClean="0"/>
            </a:br>
            <a:r>
              <a:rPr lang="de-AT" sz="3600" dirty="0" smtClean="0"/>
              <a:t>Excel Web Services</a:t>
            </a:r>
            <a:endParaRPr lang="de-AT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Integrating Excel Web Services</a:t>
            </a:r>
            <a:endParaRPr lang="de-AT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AT" sz="2400" dirty="0" smtClean="0"/>
              <a:t>A Web-Proxy can be created using the path of the trusted library &amp; „/_vti_bin/excelservice.asmx “</a:t>
            </a:r>
            <a:endParaRPr lang="de-AT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4348" y="2928934"/>
          <a:ext cx="771530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082"/>
                <a:gridCol w="4929222"/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Methode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Description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CalculateWorkbook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Calculates a whole workbook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OpenWorkbook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Opens a given</a:t>
                      </a:r>
                      <a:r>
                        <a:rPr lang="de-AT" baseline="0" dirty="0" smtClean="0"/>
                        <a:t> workbook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CloseWorkbook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Closes a workbooks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SetCell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Sets a value to a given cell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GetCell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Gets</a:t>
                      </a:r>
                      <a:r>
                        <a:rPr lang="de-AT" baseline="0" dirty="0" smtClean="0"/>
                        <a:t> a calculated value from a cell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GetSessionInformation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Gets information about</a:t>
                      </a:r>
                      <a:r>
                        <a:rPr lang="de-AT" baseline="0" dirty="0" smtClean="0"/>
                        <a:t> a given session</a:t>
                      </a:r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Connecting to EWS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6" name="Rounded Rectangle 5"/>
          <p:cNvSpPr/>
          <p:nvPr/>
        </p:nvSpPr>
        <p:spPr>
          <a:xfrm>
            <a:off x="714348" y="2143116"/>
            <a:ext cx="7929618" cy="3143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//Instantiate the Web service and create a status array object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ExcelService es = new ExcelService();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Status[] outStatus;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string sheetName = "Sheet1";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string targetWorkbookPath = "http://chiron/team/ExcelApplications/Provision.xlsx";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//Set credentials for requests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es.Credentials = System.Net.CredentialCache.DefaultCredentials;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Performing Calculations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6" name="Rounded Rectangle 5"/>
          <p:cNvSpPr/>
          <p:nvPr/>
        </p:nvSpPr>
        <p:spPr>
          <a:xfrm>
            <a:off x="714348" y="1857364"/>
            <a:ext cx="7929618" cy="3429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</a:rPr>
              <a:t>string sessionId = es.OpenWorkbook(targetWorkbookPath, "en-US", "en-US", out outStatus);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                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// Set the input parameter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es.SetCellA1(sessionId, "Sheet1", "Provisionssatz", "10");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es.SetCellA1(sessionId, "Sheet1", "Umsatz", "1000");</a:t>
            </a:r>
          </a:p>
          <a:p>
            <a:endParaRPr lang="de-AT" sz="1600" dirty="0" smtClean="0">
              <a:solidFill>
                <a:schemeClr val="tx1"/>
              </a:solidFill>
            </a:endParaRPr>
          </a:p>
          <a:p>
            <a:r>
              <a:rPr lang="de-AT" sz="1600" dirty="0" smtClean="0">
                <a:solidFill>
                  <a:schemeClr val="tx1"/>
                </a:solidFill>
              </a:rPr>
              <a:t>// Recalculate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es.CalculateWorkbook(sessionId, CalculateType.Recalculate);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               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// Get the return value               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object result = es.GetCellA1(sessionId, "Sheet1", "Provision", true, out outStatus);</a:t>
            </a:r>
            <a:endParaRPr lang="de-AT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Using Excel Services</a:t>
            </a:r>
            <a:endParaRPr lang="de-AT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mtClean="0"/>
              <a:t>Demo</a:t>
            </a:r>
            <a:endParaRPr lang="de-A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357290" y="2743200"/>
            <a:ext cx="7137423" cy="1673225"/>
          </a:xfrm>
        </p:spPr>
        <p:txBody>
          <a:bodyPr>
            <a:normAutofit/>
          </a:bodyPr>
          <a:lstStyle/>
          <a:p>
            <a:r>
              <a:rPr lang="de-AT" sz="2400" b="1" smtClean="0"/>
              <a:t>ALEXANDER.PAJER@INTEGRATIONS.AT</a:t>
            </a:r>
            <a:endParaRPr lang="de-AT" sz="2400" b="1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THANK YOU!!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tions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Font typeface="Arial" pitchFamily="34" charset="0"/>
          <a:buChar char="•"/>
          <a:defRPr dirty="0" smtClean="0">
            <a:solidFill>
              <a:schemeClr val="bg1"/>
            </a:solidFill>
          </a:defRPr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lder" ma:contentTypeID="0x012000D97F050F13A0BA458AD23DA344BCDFAE" ma:contentTypeVersion="0" ma:contentTypeDescription="Create a new folder." ma:contentTypeScope="" ma:versionID="550c1da0f5d4b2f3c22470012683d4b5">
  <xsd:schema xmlns:xsd="http://www.w3.org/2001/XMLSchema" xmlns:p="http://schemas.microsoft.com/office/2006/metadata/properties" targetNamespace="http://schemas.microsoft.com/office/2006/metadata/properties" ma:root="true" ma:fieldsID="d275e67360629ab4e5a555c8847cde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ListForm</Display>
  <Edit>ListForm</Edit>
  <New>ListForm</New>
</FormTemplates>
</file>

<file path=customXml/itemProps1.xml><?xml version="1.0" encoding="utf-8"?>
<ds:datastoreItem xmlns:ds="http://schemas.openxmlformats.org/officeDocument/2006/customXml" ds:itemID="{E1864B90-E56C-4257-A6BE-F99B5E99A6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CCFFDFF7-5F17-4289-BB00-C806C2DDB0B9}">
  <ds:schemaRefs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168F8D2-B117-4685-B314-6E16B8B9E1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Integrations</Template>
  <TotalTime>0</TotalTime>
  <Words>398</Words>
  <Application>Microsoft Office PowerPoint</Application>
  <PresentationFormat>On-screen Show (4:3)</PresentationFormat>
  <Paragraphs>81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Integrations</vt:lpstr>
      <vt:lpstr>Using SharePoint 2007 Excel Services</vt:lpstr>
      <vt:lpstr>Agenda</vt:lpstr>
      <vt:lpstr>Excel Services Basics</vt:lpstr>
      <vt:lpstr>Excel Services Features</vt:lpstr>
      <vt:lpstr>Excel Services Architecture</vt:lpstr>
      <vt:lpstr>Excel Web Access</vt:lpstr>
      <vt:lpstr>Excel Web Service</vt:lpstr>
      <vt:lpstr>SharePoint Application Server</vt:lpstr>
      <vt:lpstr>Deploying Excel Services</vt:lpstr>
      <vt:lpstr>Demo</vt:lpstr>
      <vt:lpstr>Implementing Solutions using  Excel Web Services</vt:lpstr>
      <vt:lpstr>Integrating Excel Web Services</vt:lpstr>
      <vt:lpstr>Connecting to EWS</vt:lpstr>
      <vt:lpstr>Performing Calculations</vt:lpstr>
      <vt:lpstr>Demo</vt:lpstr>
      <vt:lpstr>THANK YOU!!</vt:lpstr>
    </vt:vector>
  </TitlesOfParts>
  <Company>Integrations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Sharepoint 2007 Excel Services</dc:title>
  <dc:creator>Alexander Pajer</dc:creator>
  <cp:lastModifiedBy>Training</cp:lastModifiedBy>
  <cp:revision>22</cp:revision>
  <dcterms:created xsi:type="dcterms:W3CDTF">2007-05-16T08:15:27Z</dcterms:created>
  <dcterms:modified xsi:type="dcterms:W3CDTF">2008-06-20T07:22:08Z</dcterms:modified>
  <cp:contentType>Folder</cp:contentTyp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0x012000D97F050F13A0BA458AD23DA344BCDFAE</vt:lpwstr>
  </property>
</Properties>
</file>